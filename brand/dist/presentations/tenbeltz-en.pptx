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cover.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statement.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pathways.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blueprint.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delivery.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workshop.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timeline.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evaluation.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responsibility.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evidence.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conversation.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TenBeltz / composición close. Texto, formas y conectores editables. Datos compartidos con SVG/HTML/PDF en source/slides.json. Instalar IBM Plex Sans antes de editar.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01 / 12</a:t>
            </a:r>
          </a:p>
        </p:txBody>
      </p:sp>
      <p:pic>
        <p:nvPicPr>
          <p:cNvPr id="7" name="TenBeltz / image / 06" descr="tenbeltz-flower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952500"/>
            <a:ext cx="4876800" cy="48768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546860"/>
            <a:ext cx="53340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 Medm"/>
              </a:defRPr>
            </a:pPr>
            <a:r>
              <a:t>INGENIERÍA DE IA / AI ENGINEERING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2240280"/>
            <a:ext cx="6096000" cy="1377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84"/>
              </a:lnSpc>
              <a:spcAft>
                <a:spcPts val="0"/>
              </a:spcAft>
              <a:defRPr sz="4800">
                <a:solidFill>
                  <a:srgbClr val="252826"/>
                </a:solidFill>
                <a:latin typeface="IBM Plex Sans Medm"/>
              </a:defRPr>
            </a:pPr>
            <a:r>
              <a:t>AI projects</a:t>
            </a:r>
          </a:p>
          <a:p>
            <a:pPr>
              <a:lnSpc>
                <a:spcPts val="5184"/>
              </a:lnSpc>
              <a:spcAft>
                <a:spcPts val="0"/>
              </a:spcAft>
              <a:defRPr sz="4800">
                <a:solidFill>
                  <a:srgbClr val="252826"/>
                </a:solidFill>
                <a:latin typeface="IBM Plex Sans Medm"/>
              </a:defRPr>
            </a:pPr>
            <a:r>
              <a:t>that bloom.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4282440"/>
            <a:ext cx="57531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An external AI engineering team for software companies.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02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775460"/>
            <a:ext cx="5372100" cy="1267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AI integrated into</a:t>
            </a:r>
          </a:p>
          <a:p>
            <a:pPr>
              <a:lnSpc>
                <a:spcPts val="4752"/>
              </a:lnSpc>
              <a:spcAft>
                <a:spcPts val="0"/>
              </a:spcAft>
              <a:defRPr sz="4320">
                <a:solidFill>
                  <a:srgbClr val="252826"/>
                </a:solidFill>
                <a:latin typeface="IBM Plex Sans Medm"/>
              </a:defRPr>
            </a:pPr>
            <a:r>
              <a:t>your product.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4221480"/>
            <a:ext cx="4953000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For SaaS teams and software consultancies.</a:t>
            </a:r>
          </a:p>
        </p:txBody>
      </p:sp>
      <p:sp>
        <p:nvSpPr>
          <p:cNvPr id="9" name="TenBeltz / rect / 08"/>
          <p:cNvSpPr/>
          <p:nvPr/>
        </p:nvSpPr>
        <p:spPr>
          <a:xfrm>
            <a:off x="6705600" y="1455420"/>
            <a:ext cx="4892040" cy="4107179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7086600" y="18135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Context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7086600" y="2202180"/>
            <a:ext cx="40386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An existing product, a technical team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and an opportunity that needs a clear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scope.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7086600" y="3604260"/>
            <a:ext cx="4114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583346"/>
                </a:solidFill>
                <a:latin typeface="IBM Plex Sans Medm"/>
              </a:defRPr>
            </a:pPr>
            <a:r>
              <a:t>Contribution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7086600" y="3992879"/>
            <a:ext cx="40386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Design, development and integration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with reliability, performance and cost</a:t>
            </a:r>
          </a:p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252826"/>
                </a:solidFill>
                <a:latin typeface="IBM Plex Sans"/>
              </a:defRPr>
            </a:pPr>
            <a:r>
              <a:t>criteria.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03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591800" cy="605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>
                <a:solidFill>
                  <a:srgbClr val="252826"/>
                </a:solidFill>
                <a:latin typeface="IBM Plex Sans Medm"/>
              </a:defRPr>
            </a:pPr>
            <a:r>
              <a:t>Three ways to work together.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01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Define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4411980"/>
            <a:ext cx="3086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Diagnosis, data, architecture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and evaluation criteria.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43281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02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43281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43281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Build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4328160" y="4411980"/>
            <a:ext cx="30861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An evaluable first version and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its production integration.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8061960" y="2484120"/>
            <a:ext cx="297180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00"/>
              </a:lnSpc>
              <a:spcAft>
                <a:spcPts val="0"/>
              </a:spcAft>
              <a:defRPr sz="6000">
                <a:solidFill>
                  <a:srgbClr val="D9C4CE"/>
                </a:solidFill>
                <a:latin typeface="IBM Plex Sans Medm"/>
              </a:defRPr>
            </a:pPr>
            <a:r>
              <a:t>03</a:t>
            </a:r>
          </a:p>
        </p:txBody>
      </p:sp>
      <p:cxnSp>
        <p:nvCxnSpPr>
          <p:cNvPr id="17" name="TenBeltz / line / 16"/>
          <p:cNvCxnSpPr/>
          <p:nvPr/>
        </p:nvCxnSpPr>
        <p:spPr>
          <a:xfrm>
            <a:off x="8061960" y="3489960"/>
            <a:ext cx="327660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nBeltz / text / 17"/>
          <p:cNvSpPr txBox="1"/>
          <p:nvPr/>
        </p:nvSpPr>
        <p:spPr>
          <a:xfrm>
            <a:off x="8061960" y="3718560"/>
            <a:ext cx="3200400" cy="516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7"/>
              </a:lnSpc>
              <a:spcAft>
                <a:spcPts val="0"/>
              </a:spcAft>
              <a:defRPr sz="2760">
                <a:solidFill>
                  <a:srgbClr val="583346"/>
                </a:solidFill>
                <a:latin typeface="IBM Plex Sans Medm"/>
              </a:defRPr>
            </a:pPr>
            <a:r>
              <a:t>Train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8061960" y="4411980"/>
            <a:ext cx="3086100" cy="893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Applied AI tailored to the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team's context and</a:t>
            </a:r>
          </a:p>
          <a:p>
            <a:pPr>
              <a:lnSpc>
                <a:spcPts val="2184"/>
              </a:lnSpc>
              <a:spcAft>
                <a:spcPts val="0"/>
              </a:spcAft>
              <a:defRPr sz="1680">
                <a:solidFill>
                  <a:srgbClr val="676B65"/>
                </a:solidFill>
                <a:latin typeface="IBM Plex Sans"/>
              </a:defRPr>
            </a:pPr>
            <a:r>
              <a:t>responsibilities.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04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379220"/>
            <a:ext cx="11049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12"/>
              </a:lnSpc>
              <a:spcAft>
                <a:spcPts val="0"/>
              </a:spcAft>
              <a:defRPr sz="3240">
                <a:solidFill>
                  <a:srgbClr val="252826"/>
                </a:solidFill>
                <a:latin typeface="IBM Plex Sans Medm"/>
              </a:defRPr>
            </a:pPr>
            <a:r>
              <a:t>Define a technical foundation.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148840"/>
            <a:ext cx="5105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583346"/>
                </a:solidFill>
                <a:latin typeface="IBM Plex Sans Medm"/>
              </a:defRPr>
            </a:pPr>
            <a:r>
              <a:t>AI Gap Analysis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594360" y="2552700"/>
            <a:ext cx="5029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Identify AI opportunities, constraints and priorities for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your product.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6309360" y="2148840"/>
            <a:ext cx="5105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583346"/>
                </a:solidFill>
                <a:latin typeface="IBM Plex Sans Medm"/>
              </a:defRPr>
            </a:pPr>
            <a:r>
              <a:t>AI Project Foundations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6309360" y="2552700"/>
            <a:ext cx="50292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Define architecture, data, scope and evaluation before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building.</a:t>
            </a:r>
          </a:p>
        </p:txBody>
      </p:sp>
      <p:sp>
        <p:nvSpPr>
          <p:cNvPr id="12" name="TenBeltz / rect / 11"/>
          <p:cNvSpPr/>
          <p:nvPr/>
        </p:nvSpPr>
        <p:spPr>
          <a:xfrm>
            <a:off x="59436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nBeltz / text / 12"/>
          <p:cNvSpPr txBox="1"/>
          <p:nvPr/>
        </p:nvSpPr>
        <p:spPr>
          <a:xfrm>
            <a:off x="76200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Data</a:t>
            </a:r>
          </a:p>
        </p:txBody>
      </p:sp>
      <p:cxnSp>
        <p:nvCxnSpPr>
          <p:cNvPr id="14" name="TenBeltz / line / 13"/>
          <p:cNvCxnSpPr/>
          <p:nvPr/>
        </p:nvCxnSpPr>
        <p:spPr>
          <a:xfrm>
            <a:off x="313944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enBeltz / line / 14"/>
          <p:cNvCxnSpPr/>
          <p:nvPr/>
        </p:nvCxnSpPr>
        <p:spPr>
          <a:xfrm>
            <a:off x="329184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enBeltz / line / 15"/>
          <p:cNvCxnSpPr/>
          <p:nvPr/>
        </p:nvCxnSpPr>
        <p:spPr>
          <a:xfrm flipV="1">
            <a:off x="329184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nBeltz / rect / 16"/>
          <p:cNvSpPr/>
          <p:nvPr/>
        </p:nvSpPr>
        <p:spPr>
          <a:xfrm>
            <a:off x="343662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nBeltz / text / 17"/>
          <p:cNvSpPr txBox="1"/>
          <p:nvPr/>
        </p:nvSpPr>
        <p:spPr>
          <a:xfrm>
            <a:off x="360426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Retrieval</a:t>
            </a:r>
          </a:p>
        </p:txBody>
      </p:sp>
      <p:cxnSp>
        <p:nvCxnSpPr>
          <p:cNvPr id="19" name="TenBeltz / line / 18"/>
          <p:cNvCxnSpPr/>
          <p:nvPr/>
        </p:nvCxnSpPr>
        <p:spPr>
          <a:xfrm>
            <a:off x="598170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enBeltz / line / 19"/>
          <p:cNvCxnSpPr/>
          <p:nvPr/>
        </p:nvCxnSpPr>
        <p:spPr>
          <a:xfrm>
            <a:off x="613410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enBeltz / line / 20"/>
          <p:cNvCxnSpPr/>
          <p:nvPr/>
        </p:nvCxnSpPr>
        <p:spPr>
          <a:xfrm flipV="1">
            <a:off x="613410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nBeltz / rect / 21"/>
          <p:cNvSpPr/>
          <p:nvPr/>
        </p:nvSpPr>
        <p:spPr>
          <a:xfrm>
            <a:off x="627888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nBeltz / text / 22"/>
          <p:cNvSpPr txBox="1"/>
          <p:nvPr/>
        </p:nvSpPr>
        <p:spPr>
          <a:xfrm>
            <a:off x="644652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AI system</a:t>
            </a:r>
          </a:p>
        </p:txBody>
      </p:sp>
      <p:cxnSp>
        <p:nvCxnSpPr>
          <p:cNvPr id="24" name="TenBeltz / line / 23"/>
          <p:cNvCxnSpPr/>
          <p:nvPr/>
        </p:nvCxnSpPr>
        <p:spPr>
          <a:xfrm>
            <a:off x="8823960" y="4632960"/>
            <a:ext cx="2133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enBeltz / line / 24"/>
          <p:cNvCxnSpPr/>
          <p:nvPr/>
        </p:nvCxnSpPr>
        <p:spPr>
          <a:xfrm>
            <a:off x="8976360" y="45948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enBeltz / line / 25"/>
          <p:cNvCxnSpPr/>
          <p:nvPr/>
        </p:nvCxnSpPr>
        <p:spPr>
          <a:xfrm flipV="1">
            <a:off x="8976360" y="4632960"/>
            <a:ext cx="60960" cy="3810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nBeltz / rect / 26"/>
          <p:cNvSpPr/>
          <p:nvPr/>
        </p:nvSpPr>
        <p:spPr>
          <a:xfrm>
            <a:off x="9121140" y="4190999"/>
            <a:ext cx="2468880" cy="88392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nBeltz / text / 27"/>
          <p:cNvSpPr txBox="1"/>
          <p:nvPr/>
        </p:nvSpPr>
        <p:spPr>
          <a:xfrm>
            <a:off x="9288780" y="4434840"/>
            <a:ext cx="2148840" cy="3482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252826"/>
                </a:solidFill>
                <a:latin typeface="IBM Plex Sans Medm"/>
              </a:defRPr>
            </a:pPr>
            <a:r>
              <a:t>Evaluation</a:t>
            </a:r>
          </a:p>
        </p:txBody>
      </p:sp>
      <p:sp>
        <p:nvSpPr>
          <p:cNvPr id="29" name="TenBeltz / text / 28"/>
          <p:cNvSpPr txBox="1"/>
          <p:nvPr/>
        </p:nvSpPr>
        <p:spPr>
          <a:xfrm>
            <a:off x="594360" y="5364480"/>
            <a:ext cx="106680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Simplified flow / conceptual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05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98298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Build and deliver to production.</a:t>
            </a:r>
          </a:p>
        </p:txBody>
      </p:sp>
      <p:pic>
        <p:nvPicPr>
          <p:cNvPr id="8" name="TenBeltz / image / 07" descr="tenbeltz-background-routed-lines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407920"/>
            <a:ext cx="4648200" cy="2971800"/>
          </a:xfrm>
          <a:prstGeom prst="rect">
            <a:avLst/>
          </a:prstGeom>
        </p:spPr>
      </p:pic>
      <p:sp>
        <p:nvSpPr>
          <p:cNvPr id="9" name="TenBeltz / text / 08"/>
          <p:cNvSpPr txBox="1"/>
          <p:nvPr/>
        </p:nvSpPr>
        <p:spPr>
          <a:xfrm>
            <a:off x="594360" y="2514600"/>
            <a:ext cx="72390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1554480" y="2514600"/>
            <a:ext cx="49530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Agent MVP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1554480" y="2994660"/>
            <a:ext cx="48768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Build a first version to evaluate the system's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behaviour.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594360" y="4076699"/>
            <a:ext cx="723900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1554480" y="4076699"/>
            <a:ext cx="49530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Production Delivery</a:t>
            </a:r>
          </a:p>
        </p:txBody>
      </p:sp>
      <p:sp>
        <p:nvSpPr>
          <p:cNvPr id="14" name="TenBeltz / text / 13"/>
          <p:cNvSpPr txBox="1"/>
          <p:nvPr/>
        </p:nvSpPr>
        <p:spPr>
          <a:xfrm>
            <a:off x="1554480" y="4556760"/>
            <a:ext cx="48768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Integrate, prepare operations and agree on delivery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833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06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516380"/>
            <a:ext cx="7086600" cy="689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Aft>
                <a:spcPts val="0"/>
              </a:spcAft>
              <a:defRPr sz="4500">
                <a:solidFill>
                  <a:srgbClr val="FFFFFF"/>
                </a:solidFill>
                <a:latin typeface="IBM Plex Sans Medm"/>
              </a:defRPr>
            </a:pPr>
            <a:r>
              <a:t>Applied AI training.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3429000"/>
            <a:ext cx="6019800" cy="675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D9C4CE"/>
                </a:solidFill>
                <a:latin typeface="IBM Plex Sans"/>
              </a:defRPr>
            </a:pPr>
            <a:r>
              <a:t>Work with your team's context, tools and technical</a:t>
            </a:r>
          </a:p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D9C4CE"/>
                </a:solidFill>
                <a:latin typeface="IBM Plex Sans"/>
              </a:defRPr>
            </a:pPr>
            <a:r>
              <a:t>decisions.</a:t>
            </a:r>
          </a:p>
        </p:txBody>
      </p:sp>
      <p:pic>
        <p:nvPicPr>
          <p:cNvPr id="9" name="TenBeltz / image / 08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95400"/>
            <a:ext cx="3962399" cy="3962399"/>
          </a:xfrm>
          <a:prstGeom prst="rect">
            <a:avLst/>
          </a:prstGeom>
        </p:spPr>
      </p:pic>
      <p:cxnSp>
        <p:nvCxnSpPr>
          <p:cNvPr id="10" name="TenBeltz / line / 09"/>
          <p:cNvCxnSpPr/>
          <p:nvPr/>
        </p:nvCxnSpPr>
        <p:spPr>
          <a:xfrm>
            <a:off x="594360" y="5044440"/>
            <a:ext cx="6149340" cy="0"/>
          </a:xfrm>
          <a:prstGeom prst="line">
            <a:avLst/>
          </a:prstGeom>
          <a:ln w="7620">
            <a:solidFill>
              <a:srgbClr val="D9C4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5295900"/>
            <a:ext cx="8381999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FFFFFF"/>
                </a:solidFill>
                <a:latin typeface="IBM Plex Sans Medm"/>
              </a:defRPr>
            </a:pPr>
            <a:r>
              <a:t>Learn / Test / Apply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07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9728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23"/>
              </a:lnSpc>
              <a:spcAft>
                <a:spcPts val="0"/>
              </a:spcAft>
              <a:defRPr sz="3479">
                <a:solidFill>
                  <a:srgbClr val="252826"/>
                </a:solidFill>
                <a:latin typeface="IBM Plex Sans Medm"/>
              </a:defRPr>
            </a:pPr>
            <a:r>
              <a:t>A method with deliverables.</a:t>
            </a:r>
          </a:p>
        </p:txBody>
      </p:sp>
      <p:cxnSp>
        <p:nvCxnSpPr>
          <p:cNvPr id="8" name="TenBeltz / line / 07"/>
          <p:cNvCxnSpPr/>
          <p:nvPr/>
        </p:nvCxnSpPr>
        <p:spPr>
          <a:xfrm>
            <a:off x="1310640" y="3139440"/>
            <a:ext cx="9585960" cy="0"/>
          </a:xfrm>
          <a:prstGeom prst="line">
            <a:avLst/>
          </a:prstGeom>
          <a:ln w="15240">
            <a:solidFill>
              <a:srgbClr val="58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nBeltz / circle / 08"/>
          <p:cNvSpPr/>
          <p:nvPr/>
        </p:nvSpPr>
        <p:spPr>
          <a:xfrm>
            <a:off x="670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nBeltz / text / 09"/>
          <p:cNvSpPr txBox="1"/>
          <p:nvPr/>
        </p:nvSpPr>
        <p:spPr>
          <a:xfrm>
            <a:off x="594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594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Context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5943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Problem, users and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constraints.</a:t>
            </a:r>
          </a:p>
        </p:txBody>
      </p:sp>
      <p:sp>
        <p:nvSpPr>
          <p:cNvPr id="13" name="TenBeltz / circle / 12"/>
          <p:cNvSpPr/>
          <p:nvPr/>
        </p:nvSpPr>
        <p:spPr>
          <a:xfrm>
            <a:off x="3528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nBeltz / text / 13"/>
          <p:cNvSpPr txBox="1"/>
          <p:nvPr/>
        </p:nvSpPr>
        <p:spPr>
          <a:xfrm>
            <a:off x="3451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3451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Definition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34518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Scope and acceptance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criteria.</a:t>
            </a:r>
          </a:p>
        </p:txBody>
      </p:sp>
      <p:sp>
        <p:nvSpPr>
          <p:cNvPr id="17" name="TenBeltz / circle / 16"/>
          <p:cNvSpPr/>
          <p:nvPr/>
        </p:nvSpPr>
        <p:spPr>
          <a:xfrm>
            <a:off x="63855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nBeltz / text / 17"/>
          <p:cNvSpPr txBox="1"/>
          <p:nvPr/>
        </p:nvSpPr>
        <p:spPr>
          <a:xfrm>
            <a:off x="63093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3093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Build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3093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Implementation and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evaluation.</a:t>
            </a:r>
          </a:p>
        </p:txBody>
      </p:sp>
      <p:sp>
        <p:nvSpPr>
          <p:cNvPr id="21" name="TenBeltz / circle / 20"/>
          <p:cNvSpPr/>
          <p:nvPr/>
        </p:nvSpPr>
        <p:spPr>
          <a:xfrm>
            <a:off x="9243060" y="3063240"/>
            <a:ext cx="152400" cy="152400"/>
          </a:xfrm>
          <a:prstGeom prst="ellipse">
            <a:avLst/>
          </a:prstGeom>
          <a:solidFill>
            <a:srgbClr val="58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nBeltz / text / 21"/>
          <p:cNvSpPr txBox="1"/>
          <p:nvPr/>
        </p:nvSpPr>
        <p:spPr>
          <a:xfrm>
            <a:off x="9166860" y="2385060"/>
            <a:ext cx="2133600" cy="615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68"/>
              </a:lnSpc>
              <a:spcAft>
                <a:spcPts val="0"/>
              </a:spcAft>
              <a:defRPr sz="3360">
                <a:solidFill>
                  <a:srgbClr val="583346"/>
                </a:solidFill>
                <a:latin typeface="IBM Plex Sans Medm"/>
              </a:defRPr>
            </a:pPr>
            <a:r>
              <a:t>04</a:t>
            </a:r>
          </a:p>
        </p:txBody>
      </p:sp>
      <p:sp>
        <p:nvSpPr>
          <p:cNvPr id="23" name="TenBeltz / text / 22"/>
          <p:cNvSpPr txBox="1"/>
          <p:nvPr/>
        </p:nvSpPr>
        <p:spPr>
          <a:xfrm>
            <a:off x="9166860" y="3528060"/>
            <a:ext cx="2385060" cy="3680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8"/>
              </a:lnSpc>
              <a:spcAft>
                <a:spcPts val="0"/>
              </a:spcAft>
              <a:defRPr sz="1859">
                <a:solidFill>
                  <a:srgbClr val="252826"/>
                </a:solidFill>
                <a:latin typeface="IBM Plex Sans Medm"/>
              </a:defRPr>
            </a:pPr>
            <a:r>
              <a:t>Delivery</a:t>
            </a:r>
          </a:p>
        </p:txBody>
      </p:sp>
      <p:sp>
        <p:nvSpPr>
          <p:cNvPr id="24" name="TenBeltz / text / 23"/>
          <p:cNvSpPr txBox="1"/>
          <p:nvPr/>
        </p:nvSpPr>
        <p:spPr>
          <a:xfrm>
            <a:off x="9166860" y="4168140"/>
            <a:ext cx="2286000" cy="5958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Integration and</a:t>
            </a:r>
          </a:p>
          <a:p>
            <a:pPr>
              <a:lnSpc>
                <a:spcPts val="2106"/>
              </a:lnSpc>
              <a:spcAft>
                <a:spcPts val="0"/>
              </a:spcAft>
              <a:defRPr sz="1620">
                <a:solidFill>
                  <a:srgbClr val="676B65"/>
                </a:solidFill>
                <a:latin typeface="IBM Plex Sans"/>
              </a:defRPr>
            </a:pPr>
            <a:r>
              <a:t>documentation.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08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4394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Agree on how to evaluate.</a:t>
            </a:r>
          </a:p>
        </p:txBody>
      </p:sp>
      <p:sp>
        <p:nvSpPr>
          <p:cNvPr id="8" name="TenBeltz / circle / 07"/>
          <p:cNvSpPr/>
          <p:nvPr/>
        </p:nvSpPr>
        <p:spPr>
          <a:xfrm>
            <a:off x="967740" y="2461260"/>
            <a:ext cx="2179320" cy="2179320"/>
          </a:xfrm>
          <a:prstGeom prst="ellipse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nBeltz / text / 08"/>
          <p:cNvSpPr txBox="1"/>
          <p:nvPr/>
        </p:nvSpPr>
        <p:spPr>
          <a:xfrm>
            <a:off x="105156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Quality</a:t>
            </a:r>
          </a:p>
        </p:txBody>
      </p:sp>
      <p:sp>
        <p:nvSpPr>
          <p:cNvPr id="10" name="TenBeltz / text / 09"/>
          <p:cNvSpPr txBox="1"/>
          <p:nvPr/>
        </p:nvSpPr>
        <p:spPr>
          <a:xfrm>
            <a:off x="800100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Samples and criteria that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represent actual use.</a:t>
            </a:r>
          </a:p>
        </p:txBody>
      </p:sp>
      <p:sp>
        <p:nvSpPr>
          <p:cNvPr id="11" name="TenBeltz / circle / 10"/>
          <p:cNvSpPr/>
          <p:nvPr/>
        </p:nvSpPr>
        <p:spPr>
          <a:xfrm>
            <a:off x="4716780" y="2461260"/>
            <a:ext cx="2179320" cy="2179320"/>
          </a:xfrm>
          <a:prstGeom prst="ellipse">
            <a:avLst/>
          </a:prstGeom>
          <a:solidFill>
            <a:srgbClr val="D9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nBeltz / text / 11"/>
          <p:cNvSpPr txBox="1"/>
          <p:nvPr/>
        </p:nvSpPr>
        <p:spPr>
          <a:xfrm>
            <a:off x="480060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Performance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4549140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Latency and behaviour under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agreed load.</a:t>
            </a:r>
          </a:p>
        </p:txBody>
      </p:sp>
      <p:sp>
        <p:nvSpPr>
          <p:cNvPr id="14" name="TenBeltz / circle / 13"/>
          <p:cNvSpPr/>
          <p:nvPr/>
        </p:nvSpPr>
        <p:spPr>
          <a:xfrm>
            <a:off x="8465820" y="2461260"/>
            <a:ext cx="2179320" cy="2179320"/>
          </a:xfrm>
          <a:prstGeom prst="ellipse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nBeltz / text / 14"/>
          <p:cNvSpPr txBox="1"/>
          <p:nvPr/>
        </p:nvSpPr>
        <p:spPr>
          <a:xfrm>
            <a:off x="8549640" y="3307080"/>
            <a:ext cx="22098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Cost</a:t>
            </a:r>
          </a:p>
        </p:txBody>
      </p:sp>
      <p:sp>
        <p:nvSpPr>
          <p:cNvPr id="16" name="TenBeltz / text / 15"/>
          <p:cNvSpPr txBox="1"/>
          <p:nvPr/>
        </p:nvSpPr>
        <p:spPr>
          <a:xfrm>
            <a:off x="8298179" y="4983480"/>
            <a:ext cx="278130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Cost per use and explicit</a:t>
            </a:r>
          </a:p>
          <a:p>
            <a:pPr>
              <a:lnSpc>
                <a:spcPts val="2028"/>
              </a:lnSpc>
              <a:spcAft>
                <a:spcPts val="0"/>
              </a:spcAft>
              <a:defRPr sz="1560">
                <a:solidFill>
                  <a:srgbClr val="676B65"/>
                </a:solidFill>
                <a:latin typeface="IBM Plex Sans"/>
              </a:defRPr>
            </a:pPr>
            <a:r>
              <a:t>operational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09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5918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23"/>
              </a:lnSpc>
              <a:spcAft>
                <a:spcPts val="0"/>
              </a:spcAft>
              <a:defRPr sz="3479">
                <a:solidFill>
                  <a:srgbClr val="252826"/>
                </a:solidFill>
                <a:latin typeface="IBM Plex Sans Medm"/>
              </a:defRPr>
            </a:pPr>
            <a:r>
              <a:t>Clear technical responsibility.</a:t>
            </a:r>
          </a:p>
        </p:txBody>
      </p:sp>
      <p:sp>
        <p:nvSpPr>
          <p:cNvPr id="8" name="TenBeltz / rect / 07"/>
          <p:cNvSpPr/>
          <p:nvPr/>
        </p:nvSpPr>
        <p:spPr>
          <a:xfrm>
            <a:off x="594360" y="2552700"/>
            <a:ext cx="11003280" cy="2743200"/>
          </a:xfrm>
          <a:prstGeom prst="rect">
            <a:avLst/>
          </a:prstGeom>
          <a:solidFill>
            <a:srgbClr val="EE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TenBeltz / line / 08"/>
          <p:cNvCxnSpPr/>
          <p:nvPr/>
        </p:nvCxnSpPr>
        <p:spPr>
          <a:xfrm>
            <a:off x="5646420" y="2849880"/>
            <a:ext cx="0" cy="210312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929640" y="2895600"/>
            <a:ext cx="44196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Direction</a:t>
            </a:r>
          </a:p>
        </p:txBody>
      </p:sp>
      <p:sp>
        <p:nvSpPr>
          <p:cNvPr id="11" name="TenBeltz / text / 10"/>
          <p:cNvSpPr txBox="1"/>
          <p:nvPr/>
        </p:nvSpPr>
        <p:spPr>
          <a:xfrm>
            <a:off x="929640" y="3337560"/>
            <a:ext cx="4419600" cy="734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Aritz leads initial meetings,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consulting and technical definition.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6568440" y="2895600"/>
            <a:ext cx="44196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Team</a:t>
            </a:r>
          </a:p>
        </p:txBody>
      </p:sp>
      <p:sp>
        <p:nvSpPr>
          <p:cNvPr id="13" name="TenBeltz / text / 12"/>
          <p:cNvSpPr txBox="1"/>
          <p:nvPr/>
        </p:nvSpPr>
        <p:spPr>
          <a:xfrm>
            <a:off x="6568440" y="3337560"/>
            <a:ext cx="4419600" cy="10713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Development and integration are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delegated to the team under his</a:t>
            </a:r>
          </a:p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252826"/>
                </a:solidFill>
                <a:latin typeface="IBM Plex Sans Medm"/>
              </a:defRPr>
            </a:pPr>
            <a:r>
              <a:t>technical direction.</a:t>
            </a:r>
          </a:p>
        </p:txBody>
      </p:sp>
      <p:sp>
        <p:nvSpPr>
          <p:cNvPr id="14" name="TenBeltz / text / 13"/>
          <p:cNvSpPr txBox="1"/>
          <p:nvPr/>
        </p:nvSpPr>
        <p:spPr>
          <a:xfrm>
            <a:off x="594360" y="5654040"/>
            <a:ext cx="105918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>
                <a:solidFill>
                  <a:srgbClr val="676B65"/>
                </a:solidFill>
                <a:latin typeface="IBM Plex Sans"/>
              </a:defRPr>
            </a:pPr>
            <a:r>
              <a:t>One technical direction / one implementation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10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744200" cy="6751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36"/>
              </a:lnSpc>
              <a:spcAft>
                <a:spcPts val="0"/>
              </a:spcAft>
              <a:defRPr sz="3719">
                <a:solidFill>
                  <a:srgbClr val="252826"/>
                </a:solidFill>
                <a:latin typeface="IBM Plex Sans Medm"/>
              </a:defRPr>
            </a:pPr>
            <a:r>
              <a:t>Evidence with context.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6289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01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1615440" y="25603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Context</a:t>
            </a:r>
          </a:p>
        </p:txBody>
      </p:sp>
      <p:cxnSp>
        <p:nvCxnSpPr>
          <p:cNvPr id="10" name="TenBeltz / line / 09"/>
          <p:cNvCxnSpPr/>
          <p:nvPr/>
        </p:nvCxnSpPr>
        <p:spPr>
          <a:xfrm>
            <a:off x="594360" y="32537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36195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02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1615440" y="35509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Contribution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594360" y="42443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594360" y="4610100"/>
            <a:ext cx="762000" cy="3086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>
                <a:solidFill>
                  <a:srgbClr val="583346"/>
                </a:solidFill>
                <a:latin typeface="IBM Plex Sans Medm"/>
              </a:defRPr>
            </a:pPr>
            <a:r>
              <a:t>03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1615440" y="4541520"/>
            <a:ext cx="3429000" cy="49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32"/>
              </a:lnSpc>
              <a:spcAft>
                <a:spcPts val="0"/>
              </a:spcAft>
              <a:defRPr sz="2640">
                <a:solidFill>
                  <a:srgbClr val="252826"/>
                </a:solidFill>
                <a:latin typeface="IBM Plex Sans Medm"/>
              </a:defRPr>
            </a:pPr>
            <a:r>
              <a:t>Evidence</a:t>
            </a:r>
          </a:p>
        </p:txBody>
      </p:sp>
      <p:cxnSp>
        <p:nvCxnSpPr>
          <p:cNvPr id="16" name="TenBeltz / line / 15"/>
          <p:cNvCxnSpPr/>
          <p:nvPr/>
        </p:nvCxnSpPr>
        <p:spPr>
          <a:xfrm>
            <a:off x="594360" y="5234940"/>
            <a:ext cx="47548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nBeltz / text / 16"/>
          <p:cNvSpPr txBox="1"/>
          <p:nvPr/>
        </p:nvSpPr>
        <p:spPr>
          <a:xfrm>
            <a:off x="6743700" y="261366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Projects</a:t>
            </a:r>
          </a:p>
        </p:txBody>
      </p:sp>
      <p:sp>
        <p:nvSpPr>
          <p:cNvPr id="18" name="TenBeltz / text / 17"/>
          <p:cNvSpPr txBox="1"/>
          <p:nvPr/>
        </p:nvSpPr>
        <p:spPr>
          <a:xfrm>
            <a:off x="6743700" y="3002280"/>
            <a:ext cx="4572000" cy="6355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Distinguish client work, collaborations and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co-founded products.</a:t>
            </a:r>
          </a:p>
        </p:txBody>
      </p:sp>
      <p:sp>
        <p:nvSpPr>
          <p:cNvPr id="19" name="TenBeltz / text / 18"/>
          <p:cNvSpPr txBox="1"/>
          <p:nvPr/>
        </p:nvSpPr>
        <p:spPr>
          <a:xfrm>
            <a:off x="6743700" y="4183380"/>
            <a:ext cx="4762500" cy="2887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3"/>
              </a:lnSpc>
              <a:spcAft>
                <a:spcPts val="0"/>
              </a:spcAft>
              <a:defRPr sz="1380">
                <a:solidFill>
                  <a:srgbClr val="583346"/>
                </a:solidFill>
                <a:latin typeface="IBM Plex Sans Medm"/>
              </a:defRPr>
            </a:pPr>
            <a:r>
              <a:t>Results</a:t>
            </a:r>
          </a:p>
        </p:txBody>
      </p:sp>
      <p:sp>
        <p:nvSpPr>
          <p:cNvPr id="20" name="TenBeltz / text / 19"/>
          <p:cNvSpPr txBox="1"/>
          <p:nvPr/>
        </p:nvSpPr>
        <p:spPr>
          <a:xfrm>
            <a:off x="6743700" y="4572000"/>
            <a:ext cx="4572000" cy="922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Explain the sample, method and scope of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each evaluation. Use authorised screenshots</a:t>
            </a:r>
          </a:p>
          <a:p>
            <a:pPr>
              <a:lnSpc>
                <a:spcPts val="2261"/>
              </a:lnSpc>
              <a:spcAft>
                <a:spcPts val="0"/>
              </a:spcAft>
              <a:defRPr sz="1739">
                <a:solidFill>
                  <a:srgbClr val="676B65"/>
                </a:solidFill>
                <a:latin typeface="IBM Plex Sans"/>
              </a:defRPr>
            </a:pPr>
            <a:r>
              <a:t>and references.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676B65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676B65"/>
                </a:solidFill>
                <a:latin typeface="IBM Plex Sans"/>
              </a:defRPr>
            </a:pPr>
            <a:r>
              <a:t>11 / 12</a:t>
            </a:r>
          </a:p>
        </p:txBody>
      </p:sp>
      <p:sp>
        <p:nvSpPr>
          <p:cNvPr id="7" name="TenBeltz / text / 06"/>
          <p:cNvSpPr txBox="1"/>
          <p:nvPr/>
        </p:nvSpPr>
        <p:spPr>
          <a:xfrm>
            <a:off x="594360" y="1447800"/>
            <a:ext cx="10896600" cy="625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45"/>
              </a:lnSpc>
              <a:spcAft>
                <a:spcPts val="0"/>
              </a:spcAft>
              <a:defRPr sz="3419">
                <a:solidFill>
                  <a:srgbClr val="252826"/>
                </a:solidFill>
                <a:latin typeface="IBM Plex Sans Medm"/>
              </a:defRPr>
            </a:pPr>
            <a:r>
              <a:t>A useful first conversation.</a:t>
            </a:r>
          </a:p>
        </p:txBody>
      </p:sp>
      <p:sp>
        <p:nvSpPr>
          <p:cNvPr id="8" name="TenBeltz / text / 07"/>
          <p:cNvSpPr txBox="1"/>
          <p:nvPr/>
        </p:nvSpPr>
        <p:spPr>
          <a:xfrm>
            <a:off x="594360" y="256794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Product</a:t>
            </a:r>
          </a:p>
        </p:txBody>
      </p:sp>
      <p:sp>
        <p:nvSpPr>
          <p:cNvPr id="9" name="TenBeltz / text / 08"/>
          <p:cNvSpPr txBox="1"/>
          <p:nvPr/>
        </p:nvSpPr>
        <p:spPr>
          <a:xfrm>
            <a:off x="4572000" y="259080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What you are building and for whom.</a:t>
            </a:r>
          </a:p>
        </p:txBody>
      </p:sp>
      <p:cxnSp>
        <p:nvCxnSpPr>
          <p:cNvPr id="10" name="TenBeltz / line / 09"/>
          <p:cNvCxnSpPr/>
          <p:nvPr/>
        </p:nvCxnSpPr>
        <p:spPr>
          <a:xfrm>
            <a:off x="594360" y="330708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nBeltz / text / 10"/>
          <p:cNvSpPr txBox="1"/>
          <p:nvPr/>
        </p:nvSpPr>
        <p:spPr>
          <a:xfrm>
            <a:off x="594360" y="356616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Opportunity</a:t>
            </a:r>
          </a:p>
        </p:txBody>
      </p:sp>
      <p:sp>
        <p:nvSpPr>
          <p:cNvPr id="12" name="TenBeltz / text / 11"/>
          <p:cNvSpPr txBox="1"/>
          <p:nvPr/>
        </p:nvSpPr>
        <p:spPr>
          <a:xfrm>
            <a:off x="4572000" y="358902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What behaviour you expect from the AI system.</a:t>
            </a:r>
          </a:p>
        </p:txBody>
      </p:sp>
      <p:cxnSp>
        <p:nvCxnSpPr>
          <p:cNvPr id="13" name="TenBeltz / line / 12"/>
          <p:cNvCxnSpPr/>
          <p:nvPr/>
        </p:nvCxnSpPr>
        <p:spPr>
          <a:xfrm>
            <a:off x="594360" y="430530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nBeltz / text / 13"/>
          <p:cNvSpPr txBox="1"/>
          <p:nvPr/>
        </p:nvSpPr>
        <p:spPr>
          <a:xfrm>
            <a:off x="594360" y="4564380"/>
            <a:ext cx="3276600" cy="397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52"/>
              </a:lnSpc>
              <a:spcAft>
                <a:spcPts val="0"/>
              </a:spcAft>
              <a:defRPr sz="2039">
                <a:solidFill>
                  <a:srgbClr val="583346"/>
                </a:solidFill>
                <a:latin typeface="IBM Plex Sans Medm"/>
              </a:defRPr>
            </a:pPr>
            <a:r>
              <a:t>Constraints</a:t>
            </a:r>
          </a:p>
        </p:txBody>
      </p:sp>
      <p:sp>
        <p:nvSpPr>
          <p:cNvPr id="15" name="TenBeltz / text / 14"/>
          <p:cNvSpPr txBox="1"/>
          <p:nvPr/>
        </p:nvSpPr>
        <p:spPr>
          <a:xfrm>
            <a:off x="4572000" y="4587240"/>
            <a:ext cx="67056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40"/>
              </a:lnSpc>
              <a:spcAft>
                <a:spcPts val="0"/>
              </a:spcAft>
              <a:defRPr sz="1800">
                <a:solidFill>
                  <a:srgbClr val="676B65"/>
                </a:solidFill>
                <a:latin typeface="IBM Plex Sans"/>
              </a:defRPr>
            </a:pPr>
            <a:r>
              <a:t>Data, integration, timing and quality criteria.</a:t>
            </a:r>
          </a:p>
        </p:txBody>
      </p:sp>
      <p:cxnSp>
        <p:nvCxnSpPr>
          <p:cNvPr id="16" name="TenBeltz / line / 15"/>
          <p:cNvCxnSpPr/>
          <p:nvPr/>
        </p:nvCxnSpPr>
        <p:spPr>
          <a:xfrm>
            <a:off x="594360" y="5303520"/>
            <a:ext cx="11003280" cy="0"/>
          </a:xfrm>
          <a:prstGeom prst="line">
            <a:avLst/>
          </a:prstGeom>
          <a:ln w="7620">
            <a:solidFill>
              <a:srgbClr val="D9D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28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nBeltz / image / 01" descr="tenbeltz-horizonta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6720"/>
            <a:ext cx="1790700" cy="392482"/>
          </a:xfrm>
          <a:prstGeom prst="rect">
            <a:avLst/>
          </a:prstGeom>
        </p:spPr>
      </p:pic>
      <p:sp>
        <p:nvSpPr>
          <p:cNvPr id="3" name="TenBeltz / text / 02"/>
          <p:cNvSpPr txBox="1"/>
          <p:nvPr/>
        </p:nvSpPr>
        <p:spPr>
          <a:xfrm>
            <a:off x="9829800" y="510540"/>
            <a:ext cx="1790700" cy="239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4"/>
              </a:lnSpc>
              <a:spcAft>
                <a:spcPts val="0"/>
              </a:spcAft>
              <a:defRPr sz="108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  <p:cxnSp>
        <p:nvCxnSpPr>
          <p:cNvPr id="4" name="TenBeltz / line / 03"/>
          <p:cNvCxnSpPr/>
          <p:nvPr/>
        </p:nvCxnSpPr>
        <p:spPr>
          <a:xfrm>
            <a:off x="594360" y="6225540"/>
            <a:ext cx="1100328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nBeltz / text / 04"/>
          <p:cNvSpPr txBox="1"/>
          <p:nvPr/>
        </p:nvSpPr>
        <p:spPr>
          <a:xfrm>
            <a:off x="594360" y="6416040"/>
            <a:ext cx="72390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TENBELTZ / BRAND SYSTEM 2026.10</a:t>
            </a:r>
          </a:p>
        </p:txBody>
      </p:sp>
      <p:sp>
        <p:nvSpPr>
          <p:cNvPr id="6" name="TenBeltz / text / 05"/>
          <p:cNvSpPr txBox="1"/>
          <p:nvPr/>
        </p:nvSpPr>
        <p:spPr>
          <a:xfrm>
            <a:off x="10820400" y="6416040"/>
            <a:ext cx="723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>
                <a:solidFill>
                  <a:srgbClr val="D9C4CE"/>
                </a:solidFill>
                <a:latin typeface="IBM Plex Sans"/>
              </a:defRPr>
            </a:pPr>
            <a:r>
              <a:t>12 / 12</a:t>
            </a:r>
          </a:p>
        </p:txBody>
      </p:sp>
      <p:pic>
        <p:nvPicPr>
          <p:cNvPr id="7" name="TenBeltz / image / 06" descr="tenbeltz-motif-line-petals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019300"/>
            <a:ext cx="3238500" cy="3238500"/>
          </a:xfrm>
          <a:prstGeom prst="rect">
            <a:avLst/>
          </a:prstGeom>
        </p:spPr>
      </p:pic>
      <p:sp>
        <p:nvSpPr>
          <p:cNvPr id="8" name="TenBeltz / text / 07"/>
          <p:cNvSpPr txBox="1"/>
          <p:nvPr/>
        </p:nvSpPr>
        <p:spPr>
          <a:xfrm>
            <a:off x="594360" y="1821180"/>
            <a:ext cx="8458200" cy="7147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Aft>
                <a:spcPts val="0"/>
              </a:spcAft>
              <a:defRPr sz="4680">
                <a:solidFill>
                  <a:srgbClr val="FFFFFF"/>
                </a:solidFill>
                <a:latin typeface="IBM Plex Sans Medm"/>
              </a:defRPr>
            </a:pPr>
            <a:r>
              <a:t>Talk about your project.</a:t>
            </a:r>
          </a:p>
        </p:txBody>
      </p:sp>
      <p:cxnSp>
        <p:nvCxnSpPr>
          <p:cNvPr id="9" name="TenBeltz / line / 08"/>
          <p:cNvCxnSpPr/>
          <p:nvPr/>
        </p:nvCxnSpPr>
        <p:spPr>
          <a:xfrm>
            <a:off x="594360" y="4061460"/>
            <a:ext cx="6492240" cy="0"/>
          </a:xfrm>
          <a:prstGeom prst="line">
            <a:avLst/>
          </a:prstGeom>
          <a:ln w="7620">
            <a:solidFill>
              <a:srgbClr val="676B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nBeltz / text / 09"/>
          <p:cNvSpPr txBox="1"/>
          <p:nvPr/>
        </p:nvSpPr>
        <p:spPr>
          <a:xfrm>
            <a:off x="594360" y="4465320"/>
            <a:ext cx="7315200" cy="774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hello@tenbeltz.com</a:t>
            </a:r>
          </a:p>
          <a:p>
            <a:pPr>
              <a:lnSpc>
                <a:spcPts val="2808"/>
              </a:lnSpc>
              <a:spcAft>
                <a:spcPts val="0"/>
              </a:spcAft>
              <a:defRPr sz="2160">
                <a:solidFill>
                  <a:srgbClr val="D9C4CE"/>
                </a:solidFill>
                <a:latin typeface="IBM Plex Sans"/>
              </a:defRPr>
            </a:pPr>
            <a:r>
              <a:t>tenbeltz.com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IBM Plex Sans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TenBeltz / en</dc:title>
  <dc:subject/>
  <dc:creator>TenBeltz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