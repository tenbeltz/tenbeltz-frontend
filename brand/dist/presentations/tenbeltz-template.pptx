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TenBeltz / composición cover. Texto, formas y conectores editables. Datos compartidos con SVG/HTML/PDF en source/slides.json. Instalar IBM Plex Sans antes de editar.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TenBeltz / composición section. Texto, formas y conectores editables. Datos compartidos con SVG/HTML/PDF en source/slides.json. Instalar IBM Plex Sans antes de editar.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TenBeltz / composición statement. Texto, formas y conectores editables. Datos compartidos con SVG/HTML/PDF en source/slides.json. Instalar IBM Plex Sans antes de editar.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TenBeltz / composición pathways. Texto, formas y conectores editables. Datos compartidos con SVG/HTML/PDF en source/slides.json. Instalar IBM Plex Sans antes de editar.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TenBeltz / composición timeline. Texto, formas y conectores editables. Datos compartidos con SVG/HTML/PDF en source/slides.json. Instalar IBM Plex Sans antes de editar.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TenBeltz / composición evidence. Texto, formas y conectores editables. Datos compartidos con SVG/HTML/PDF en source/slides.json. Instalar IBM Plex Sans antes de editar.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TenBeltz / composición table. Texto, formas y conectores editables. Datos compartidos con SVG/HTML/PDF en source/slides.json. Instalar IBM Plex Sans antes de editar.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TenBeltz / composición metric. Texto, formas y conectores editables. Datos compartidos con SVG/HTML/PDF en source/slides.json. Instalar IBM Plex Sans antes de editar.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TenBeltz / composición image. Texto, formas y conectores editables. Datos compartidos con SVG/HTML/PDF en source/slides.json. Instalar IBM Plex Sans antes de editar.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TenBeltz / composición close. Texto, formas y conectores editables. Datos compartidos con SVG/HTML/PDF en source/slides.json. Instalar IBM Plex Sans antes de editar.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TenBeltz / image / 01" descr="tenbeltz-horizontal-col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426720"/>
            <a:ext cx="1790700" cy="392482"/>
          </a:xfrm>
          <a:prstGeom prst="rect">
            <a:avLst/>
          </a:prstGeom>
        </p:spPr>
      </p:pic>
      <p:sp>
        <p:nvSpPr>
          <p:cNvPr id="3" name="TenBeltz / text / 02"/>
          <p:cNvSpPr txBox="1"/>
          <p:nvPr/>
        </p:nvSpPr>
        <p:spPr>
          <a:xfrm>
            <a:off x="9829800" y="510540"/>
            <a:ext cx="1790700" cy="2392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04"/>
              </a:lnSpc>
              <a:spcAft>
                <a:spcPts val="0"/>
              </a:spcAft>
              <a:defRPr sz="1080">
                <a:solidFill>
                  <a:srgbClr val="676B65"/>
                </a:solidFill>
                <a:latin typeface="IBM Plex Sans"/>
              </a:defRPr>
            </a:pPr>
            <a:r>
              <a:t>tenbeltz.com</a:t>
            </a:r>
          </a:p>
        </p:txBody>
      </p:sp>
      <p:cxnSp>
        <p:nvCxnSpPr>
          <p:cNvPr id="4" name="TenBeltz / line / 03"/>
          <p:cNvCxnSpPr/>
          <p:nvPr/>
        </p:nvCxnSpPr>
        <p:spPr>
          <a:xfrm>
            <a:off x="594360" y="6225540"/>
            <a:ext cx="11003280" cy="0"/>
          </a:xfrm>
          <a:prstGeom prst="line">
            <a:avLst/>
          </a:prstGeom>
          <a:ln w="7620">
            <a:solidFill>
              <a:srgbClr val="D9DC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nBeltz / text / 04"/>
          <p:cNvSpPr txBox="1"/>
          <p:nvPr/>
        </p:nvSpPr>
        <p:spPr>
          <a:xfrm>
            <a:off x="594360" y="6416040"/>
            <a:ext cx="7239000" cy="2095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170"/>
              </a:lnSpc>
              <a:spcAft>
                <a:spcPts val="0"/>
              </a:spcAft>
              <a:defRPr sz="900">
                <a:solidFill>
                  <a:srgbClr val="676B65"/>
                </a:solidFill>
                <a:latin typeface="IBM Plex Sans"/>
              </a:defRPr>
            </a:pPr>
            <a:r>
              <a:t>TENBELTZ / BRAND SYSTEM 2026.10</a:t>
            </a:r>
          </a:p>
        </p:txBody>
      </p:sp>
      <p:sp>
        <p:nvSpPr>
          <p:cNvPr id="6" name="TenBeltz / text / 05"/>
          <p:cNvSpPr txBox="1"/>
          <p:nvPr/>
        </p:nvSpPr>
        <p:spPr>
          <a:xfrm>
            <a:off x="10820400" y="6416040"/>
            <a:ext cx="723900" cy="2095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170"/>
              </a:lnSpc>
              <a:spcAft>
                <a:spcPts val="0"/>
              </a:spcAft>
              <a:defRPr sz="900">
                <a:solidFill>
                  <a:srgbClr val="676B65"/>
                </a:solidFill>
                <a:latin typeface="IBM Plex Sans"/>
              </a:defRPr>
            </a:pPr>
            <a:r>
              <a:t>01 / 10</a:t>
            </a:r>
          </a:p>
        </p:txBody>
      </p:sp>
      <p:pic>
        <p:nvPicPr>
          <p:cNvPr id="7" name="TenBeltz / image / 06" descr="tenbeltz-flower-transpar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48500" y="952500"/>
            <a:ext cx="4876800" cy="4876800"/>
          </a:xfrm>
          <a:prstGeom prst="rect">
            <a:avLst/>
          </a:prstGeom>
        </p:spPr>
      </p:pic>
      <p:sp>
        <p:nvSpPr>
          <p:cNvPr id="8" name="TenBeltz / text / 07"/>
          <p:cNvSpPr txBox="1"/>
          <p:nvPr/>
        </p:nvSpPr>
        <p:spPr>
          <a:xfrm>
            <a:off x="594360" y="1546860"/>
            <a:ext cx="5334000" cy="2392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04"/>
              </a:lnSpc>
              <a:spcAft>
                <a:spcPts val="0"/>
              </a:spcAft>
              <a:defRPr sz="1080">
                <a:solidFill>
                  <a:srgbClr val="676B65"/>
                </a:solidFill>
                <a:latin typeface="IBM Plex Sans Medm"/>
              </a:defRPr>
            </a:pPr>
            <a:r>
              <a:t>INGENIERÍA DE IA / AI ENGINEERING</a:t>
            </a:r>
          </a:p>
        </p:txBody>
      </p:sp>
      <p:sp>
        <p:nvSpPr>
          <p:cNvPr id="9" name="TenBeltz / text / 08"/>
          <p:cNvSpPr txBox="1"/>
          <p:nvPr/>
        </p:nvSpPr>
        <p:spPr>
          <a:xfrm>
            <a:off x="594360" y="2240280"/>
            <a:ext cx="6096000" cy="71932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5184"/>
              </a:lnSpc>
              <a:spcAft>
                <a:spcPts val="0"/>
              </a:spcAft>
              <a:defRPr sz="4800">
                <a:solidFill>
                  <a:srgbClr val="252826"/>
                </a:solidFill>
                <a:latin typeface="IBM Plex Sans Medm"/>
              </a:defRPr>
            </a:pPr>
            <a:r>
              <a:t>[Título del proyecto]</a:t>
            </a:r>
          </a:p>
        </p:txBody>
      </p:sp>
      <p:sp>
        <p:nvSpPr>
          <p:cNvPr id="10" name="TenBeltz / text / 09"/>
          <p:cNvSpPr txBox="1"/>
          <p:nvPr/>
        </p:nvSpPr>
        <p:spPr>
          <a:xfrm>
            <a:off x="594360" y="4282440"/>
            <a:ext cx="5753100" cy="33832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84"/>
              </a:lnSpc>
              <a:spcAft>
                <a:spcPts val="0"/>
              </a:spcAft>
              <a:defRPr sz="1680">
                <a:solidFill>
                  <a:srgbClr val="676B65"/>
                </a:solidFill>
                <a:latin typeface="IBM Plex Sans"/>
              </a:defRPr>
            </a:pPr>
            <a:r>
              <a:t>[Cliente / autor / fecha]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52826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TenBeltz / image / 01" descr="tenbeltz-horizontal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426720"/>
            <a:ext cx="1790700" cy="392482"/>
          </a:xfrm>
          <a:prstGeom prst="rect">
            <a:avLst/>
          </a:prstGeom>
        </p:spPr>
      </p:pic>
      <p:sp>
        <p:nvSpPr>
          <p:cNvPr id="3" name="TenBeltz / text / 02"/>
          <p:cNvSpPr txBox="1"/>
          <p:nvPr/>
        </p:nvSpPr>
        <p:spPr>
          <a:xfrm>
            <a:off x="9829800" y="510540"/>
            <a:ext cx="1790700" cy="2392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04"/>
              </a:lnSpc>
              <a:spcAft>
                <a:spcPts val="0"/>
              </a:spcAft>
              <a:defRPr sz="1080">
                <a:solidFill>
                  <a:srgbClr val="D9C4CE"/>
                </a:solidFill>
                <a:latin typeface="IBM Plex Sans"/>
              </a:defRPr>
            </a:pPr>
            <a:r>
              <a:t>tenbeltz.com</a:t>
            </a:r>
          </a:p>
        </p:txBody>
      </p:sp>
      <p:cxnSp>
        <p:nvCxnSpPr>
          <p:cNvPr id="4" name="TenBeltz / line / 03"/>
          <p:cNvCxnSpPr/>
          <p:nvPr/>
        </p:nvCxnSpPr>
        <p:spPr>
          <a:xfrm>
            <a:off x="594360" y="6225540"/>
            <a:ext cx="11003280" cy="0"/>
          </a:xfrm>
          <a:prstGeom prst="line">
            <a:avLst/>
          </a:prstGeom>
          <a:ln w="7620">
            <a:solidFill>
              <a:srgbClr val="676B6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nBeltz / text / 04"/>
          <p:cNvSpPr txBox="1"/>
          <p:nvPr/>
        </p:nvSpPr>
        <p:spPr>
          <a:xfrm>
            <a:off x="594360" y="6416040"/>
            <a:ext cx="7239000" cy="2095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170"/>
              </a:lnSpc>
              <a:spcAft>
                <a:spcPts val="0"/>
              </a:spcAft>
              <a:defRPr sz="900">
                <a:solidFill>
                  <a:srgbClr val="D9C4CE"/>
                </a:solidFill>
                <a:latin typeface="IBM Plex Sans"/>
              </a:defRPr>
            </a:pPr>
            <a:r>
              <a:t>TENBELTZ / BRAND SYSTEM 2026.10</a:t>
            </a:r>
          </a:p>
        </p:txBody>
      </p:sp>
      <p:sp>
        <p:nvSpPr>
          <p:cNvPr id="6" name="TenBeltz / text / 05"/>
          <p:cNvSpPr txBox="1"/>
          <p:nvPr/>
        </p:nvSpPr>
        <p:spPr>
          <a:xfrm>
            <a:off x="10820400" y="6416040"/>
            <a:ext cx="723900" cy="2095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170"/>
              </a:lnSpc>
              <a:spcAft>
                <a:spcPts val="0"/>
              </a:spcAft>
              <a:defRPr sz="900">
                <a:solidFill>
                  <a:srgbClr val="D9C4CE"/>
                </a:solidFill>
                <a:latin typeface="IBM Plex Sans"/>
              </a:defRPr>
            </a:pPr>
            <a:r>
              <a:t>02 / 10</a:t>
            </a:r>
          </a:p>
        </p:txBody>
      </p:sp>
      <p:pic>
        <p:nvPicPr>
          <p:cNvPr id="7" name="TenBeltz / image / 06" descr="tenbeltz-motif-line-petals-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15300" y="2019300"/>
            <a:ext cx="3238500" cy="3238500"/>
          </a:xfrm>
          <a:prstGeom prst="rect">
            <a:avLst/>
          </a:prstGeom>
        </p:spPr>
      </p:pic>
      <p:sp>
        <p:nvSpPr>
          <p:cNvPr id="8" name="TenBeltz / text / 07"/>
          <p:cNvSpPr txBox="1"/>
          <p:nvPr/>
        </p:nvSpPr>
        <p:spPr>
          <a:xfrm>
            <a:off x="594360" y="1821180"/>
            <a:ext cx="8458200" cy="71475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5148"/>
              </a:lnSpc>
              <a:spcAft>
                <a:spcPts val="0"/>
              </a:spcAft>
              <a:defRPr sz="4680">
                <a:solidFill>
                  <a:srgbClr val="FFFFFF"/>
                </a:solidFill>
                <a:latin typeface="IBM Plex Sans Medm"/>
              </a:defRPr>
            </a:pPr>
            <a:r>
              <a:t>[Nombre de la sección]</a:t>
            </a:r>
          </a:p>
        </p:txBody>
      </p:sp>
      <p:cxnSp>
        <p:nvCxnSpPr>
          <p:cNvPr id="9" name="TenBeltz / line / 08"/>
          <p:cNvCxnSpPr/>
          <p:nvPr/>
        </p:nvCxnSpPr>
        <p:spPr>
          <a:xfrm>
            <a:off x="594360" y="4061460"/>
            <a:ext cx="6492240" cy="0"/>
          </a:xfrm>
          <a:prstGeom prst="line">
            <a:avLst/>
          </a:prstGeom>
          <a:ln w="7620">
            <a:solidFill>
              <a:srgbClr val="676B6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nBeltz / text / 09"/>
          <p:cNvSpPr txBox="1"/>
          <p:nvPr/>
        </p:nvSpPr>
        <p:spPr>
          <a:xfrm>
            <a:off x="594360" y="4465320"/>
            <a:ext cx="7315200" cy="41757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808"/>
              </a:lnSpc>
              <a:spcAft>
                <a:spcPts val="0"/>
              </a:spcAft>
              <a:defRPr sz="2160">
                <a:solidFill>
                  <a:srgbClr val="D9C4CE"/>
                </a:solidFill>
                <a:latin typeface="IBM Plex Sans"/>
              </a:defRPr>
            </a:pPr>
            <a:r>
              <a:t>[Una idea para abrir este capítulo.]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TenBeltz / image / 01" descr="tenbeltz-horizontal-col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426720"/>
            <a:ext cx="1790700" cy="392482"/>
          </a:xfrm>
          <a:prstGeom prst="rect">
            <a:avLst/>
          </a:prstGeom>
        </p:spPr>
      </p:pic>
      <p:sp>
        <p:nvSpPr>
          <p:cNvPr id="3" name="TenBeltz / text / 02"/>
          <p:cNvSpPr txBox="1"/>
          <p:nvPr/>
        </p:nvSpPr>
        <p:spPr>
          <a:xfrm>
            <a:off x="9829800" y="510540"/>
            <a:ext cx="1790700" cy="2392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04"/>
              </a:lnSpc>
              <a:spcAft>
                <a:spcPts val="0"/>
              </a:spcAft>
              <a:defRPr sz="1080">
                <a:solidFill>
                  <a:srgbClr val="676B65"/>
                </a:solidFill>
                <a:latin typeface="IBM Plex Sans"/>
              </a:defRPr>
            </a:pPr>
            <a:r>
              <a:t>tenbeltz.com</a:t>
            </a:r>
          </a:p>
        </p:txBody>
      </p:sp>
      <p:cxnSp>
        <p:nvCxnSpPr>
          <p:cNvPr id="4" name="TenBeltz / line / 03"/>
          <p:cNvCxnSpPr/>
          <p:nvPr/>
        </p:nvCxnSpPr>
        <p:spPr>
          <a:xfrm>
            <a:off x="594360" y="6225540"/>
            <a:ext cx="11003280" cy="0"/>
          </a:xfrm>
          <a:prstGeom prst="line">
            <a:avLst/>
          </a:prstGeom>
          <a:ln w="7620">
            <a:solidFill>
              <a:srgbClr val="D9DC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nBeltz / text / 04"/>
          <p:cNvSpPr txBox="1"/>
          <p:nvPr/>
        </p:nvSpPr>
        <p:spPr>
          <a:xfrm>
            <a:off x="594360" y="6416040"/>
            <a:ext cx="7239000" cy="2095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170"/>
              </a:lnSpc>
              <a:spcAft>
                <a:spcPts val="0"/>
              </a:spcAft>
              <a:defRPr sz="900">
                <a:solidFill>
                  <a:srgbClr val="676B65"/>
                </a:solidFill>
                <a:latin typeface="IBM Plex Sans"/>
              </a:defRPr>
            </a:pPr>
            <a:r>
              <a:t>TENBELTZ / BRAND SYSTEM 2026.10</a:t>
            </a:r>
          </a:p>
        </p:txBody>
      </p:sp>
      <p:sp>
        <p:nvSpPr>
          <p:cNvPr id="6" name="TenBeltz / text / 05"/>
          <p:cNvSpPr txBox="1"/>
          <p:nvPr/>
        </p:nvSpPr>
        <p:spPr>
          <a:xfrm>
            <a:off x="10820400" y="6416040"/>
            <a:ext cx="723900" cy="2095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170"/>
              </a:lnSpc>
              <a:spcAft>
                <a:spcPts val="0"/>
              </a:spcAft>
              <a:defRPr sz="900">
                <a:solidFill>
                  <a:srgbClr val="676B65"/>
                </a:solidFill>
                <a:latin typeface="IBM Plex Sans"/>
              </a:defRPr>
            </a:pPr>
            <a:r>
              <a:t>03 / 10</a:t>
            </a:r>
          </a:p>
        </p:txBody>
      </p:sp>
      <p:sp>
        <p:nvSpPr>
          <p:cNvPr id="7" name="TenBeltz / text / 06"/>
          <p:cNvSpPr txBox="1"/>
          <p:nvPr/>
        </p:nvSpPr>
        <p:spPr>
          <a:xfrm>
            <a:off x="594360" y="1775460"/>
            <a:ext cx="5372100" cy="12679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4752"/>
              </a:lnSpc>
              <a:spcAft>
                <a:spcPts val="0"/>
              </a:spcAft>
              <a:defRPr sz="4320">
                <a:solidFill>
                  <a:srgbClr val="252826"/>
                </a:solidFill>
                <a:latin typeface="IBM Plex Sans Medm"/>
              </a:defRPr>
            </a:pPr>
            <a:r>
              <a:t>[Una decisión, dos</a:t>
            </a:r>
          </a:p>
          <a:p>
            <a:pPr>
              <a:lnSpc>
                <a:spcPts val="4752"/>
              </a:lnSpc>
              <a:spcAft>
                <a:spcPts val="0"/>
              </a:spcAft>
              <a:defRPr sz="4320">
                <a:solidFill>
                  <a:srgbClr val="252826"/>
                </a:solidFill>
                <a:latin typeface="IBM Plex Sans Medm"/>
              </a:defRPr>
            </a:pPr>
            <a:r>
              <a:t>perspectivas]</a:t>
            </a:r>
          </a:p>
        </p:txBody>
      </p:sp>
      <p:sp>
        <p:nvSpPr>
          <p:cNvPr id="8" name="TenBeltz / text / 07"/>
          <p:cNvSpPr txBox="1"/>
          <p:nvPr/>
        </p:nvSpPr>
        <p:spPr>
          <a:xfrm>
            <a:off x="594360" y="4221480"/>
            <a:ext cx="4953000" cy="33832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84"/>
              </a:lnSpc>
              <a:spcAft>
                <a:spcPts val="0"/>
              </a:spcAft>
              <a:defRPr sz="1680">
                <a:solidFill>
                  <a:srgbClr val="676B65"/>
                </a:solidFill>
                <a:latin typeface="IBM Plex Sans"/>
              </a:defRPr>
            </a:pPr>
          </a:p>
        </p:txBody>
      </p:sp>
      <p:sp>
        <p:nvSpPr>
          <p:cNvPr id="9" name="TenBeltz / rect / 08"/>
          <p:cNvSpPr/>
          <p:nvPr/>
        </p:nvSpPr>
        <p:spPr>
          <a:xfrm>
            <a:off x="6705600" y="1455420"/>
            <a:ext cx="4892040" cy="4107179"/>
          </a:xfrm>
          <a:prstGeom prst="rect">
            <a:avLst/>
          </a:prstGeom>
          <a:solidFill>
            <a:srgbClr val="EEEE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nBeltz / text / 09"/>
          <p:cNvSpPr txBox="1"/>
          <p:nvPr/>
        </p:nvSpPr>
        <p:spPr>
          <a:xfrm>
            <a:off x="7086600" y="1813560"/>
            <a:ext cx="4114800" cy="2590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560"/>
              </a:lnSpc>
              <a:spcAft>
                <a:spcPts val="0"/>
              </a:spcAft>
              <a:defRPr sz="1200">
                <a:solidFill>
                  <a:srgbClr val="583346"/>
                </a:solidFill>
                <a:latin typeface="IBM Plex Sans Medm"/>
              </a:defRPr>
            </a:pPr>
            <a:r>
              <a:t>[Contexto]</a:t>
            </a:r>
          </a:p>
        </p:txBody>
      </p:sp>
      <p:sp>
        <p:nvSpPr>
          <p:cNvPr id="11" name="TenBeltz / text / 10"/>
          <p:cNvSpPr txBox="1"/>
          <p:nvPr/>
        </p:nvSpPr>
        <p:spPr>
          <a:xfrm>
            <a:off x="7086600" y="2202180"/>
            <a:ext cx="4038600" cy="3581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40"/>
              </a:lnSpc>
              <a:spcAft>
                <a:spcPts val="0"/>
              </a:spcAft>
              <a:defRPr sz="1800">
                <a:solidFill>
                  <a:srgbClr val="252826"/>
                </a:solidFill>
                <a:latin typeface="IBM Plex Sans"/>
              </a:defRPr>
            </a:pPr>
            <a:r>
              <a:t>[Describe la situación actual.]</a:t>
            </a:r>
          </a:p>
        </p:txBody>
      </p:sp>
      <p:sp>
        <p:nvSpPr>
          <p:cNvPr id="12" name="TenBeltz / text / 11"/>
          <p:cNvSpPr txBox="1"/>
          <p:nvPr/>
        </p:nvSpPr>
        <p:spPr>
          <a:xfrm>
            <a:off x="7086600" y="3604260"/>
            <a:ext cx="4114800" cy="2590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560"/>
              </a:lnSpc>
              <a:spcAft>
                <a:spcPts val="0"/>
              </a:spcAft>
              <a:defRPr sz="1200">
                <a:solidFill>
                  <a:srgbClr val="583346"/>
                </a:solidFill>
                <a:latin typeface="IBM Plex Sans Medm"/>
              </a:defRPr>
            </a:pPr>
            <a:r>
              <a:t>[Propuesta]</a:t>
            </a:r>
          </a:p>
        </p:txBody>
      </p:sp>
      <p:sp>
        <p:nvSpPr>
          <p:cNvPr id="13" name="TenBeltz / text / 12"/>
          <p:cNvSpPr txBox="1"/>
          <p:nvPr/>
        </p:nvSpPr>
        <p:spPr>
          <a:xfrm>
            <a:off x="7086600" y="3992879"/>
            <a:ext cx="4038600" cy="3581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40"/>
              </a:lnSpc>
              <a:spcAft>
                <a:spcPts val="0"/>
              </a:spcAft>
              <a:defRPr sz="1800">
                <a:solidFill>
                  <a:srgbClr val="252826"/>
                </a:solidFill>
                <a:latin typeface="IBM Plex Sans"/>
              </a:defRPr>
            </a:pPr>
            <a:r>
              <a:t>[Explica la contribución técnica.]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TenBeltz / image / 01" descr="tenbeltz-horizontal-col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426720"/>
            <a:ext cx="1790700" cy="392482"/>
          </a:xfrm>
          <a:prstGeom prst="rect">
            <a:avLst/>
          </a:prstGeom>
        </p:spPr>
      </p:pic>
      <p:sp>
        <p:nvSpPr>
          <p:cNvPr id="3" name="TenBeltz / text / 02"/>
          <p:cNvSpPr txBox="1"/>
          <p:nvPr/>
        </p:nvSpPr>
        <p:spPr>
          <a:xfrm>
            <a:off x="9829800" y="510540"/>
            <a:ext cx="1790700" cy="2392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04"/>
              </a:lnSpc>
              <a:spcAft>
                <a:spcPts val="0"/>
              </a:spcAft>
              <a:defRPr sz="1080">
                <a:solidFill>
                  <a:srgbClr val="676B65"/>
                </a:solidFill>
                <a:latin typeface="IBM Plex Sans"/>
              </a:defRPr>
            </a:pPr>
            <a:r>
              <a:t>tenbeltz.com</a:t>
            </a:r>
          </a:p>
        </p:txBody>
      </p:sp>
      <p:cxnSp>
        <p:nvCxnSpPr>
          <p:cNvPr id="4" name="TenBeltz / line / 03"/>
          <p:cNvCxnSpPr/>
          <p:nvPr/>
        </p:nvCxnSpPr>
        <p:spPr>
          <a:xfrm>
            <a:off x="594360" y="6225540"/>
            <a:ext cx="11003280" cy="0"/>
          </a:xfrm>
          <a:prstGeom prst="line">
            <a:avLst/>
          </a:prstGeom>
          <a:ln w="7620">
            <a:solidFill>
              <a:srgbClr val="D9DC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nBeltz / text / 04"/>
          <p:cNvSpPr txBox="1"/>
          <p:nvPr/>
        </p:nvSpPr>
        <p:spPr>
          <a:xfrm>
            <a:off x="594360" y="6416040"/>
            <a:ext cx="7239000" cy="2095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170"/>
              </a:lnSpc>
              <a:spcAft>
                <a:spcPts val="0"/>
              </a:spcAft>
              <a:defRPr sz="900">
                <a:solidFill>
                  <a:srgbClr val="676B65"/>
                </a:solidFill>
                <a:latin typeface="IBM Plex Sans"/>
              </a:defRPr>
            </a:pPr>
            <a:r>
              <a:t>TENBELTZ / BRAND SYSTEM 2026.10</a:t>
            </a:r>
          </a:p>
        </p:txBody>
      </p:sp>
      <p:sp>
        <p:nvSpPr>
          <p:cNvPr id="6" name="TenBeltz / text / 05"/>
          <p:cNvSpPr txBox="1"/>
          <p:nvPr/>
        </p:nvSpPr>
        <p:spPr>
          <a:xfrm>
            <a:off x="10820400" y="6416040"/>
            <a:ext cx="723900" cy="2095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170"/>
              </a:lnSpc>
              <a:spcAft>
                <a:spcPts val="0"/>
              </a:spcAft>
              <a:defRPr sz="900">
                <a:solidFill>
                  <a:srgbClr val="676B65"/>
                </a:solidFill>
                <a:latin typeface="IBM Plex Sans"/>
              </a:defRPr>
            </a:pPr>
            <a:r>
              <a:t>04 / 10</a:t>
            </a:r>
          </a:p>
        </p:txBody>
      </p:sp>
      <p:sp>
        <p:nvSpPr>
          <p:cNvPr id="7" name="TenBeltz / text / 06"/>
          <p:cNvSpPr txBox="1"/>
          <p:nvPr/>
        </p:nvSpPr>
        <p:spPr>
          <a:xfrm>
            <a:off x="594360" y="1447800"/>
            <a:ext cx="10591800" cy="60579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4290"/>
              </a:lnSpc>
              <a:spcAft>
                <a:spcPts val="0"/>
              </a:spcAft>
              <a:defRPr sz="3300">
                <a:solidFill>
                  <a:srgbClr val="252826"/>
                </a:solidFill>
                <a:latin typeface="IBM Plex Sans Medm"/>
              </a:defRPr>
            </a:pPr>
            <a:r>
              <a:t>[Tres puntos que recordar]</a:t>
            </a:r>
          </a:p>
        </p:txBody>
      </p:sp>
      <p:sp>
        <p:nvSpPr>
          <p:cNvPr id="8" name="TenBeltz / text / 07"/>
          <p:cNvSpPr txBox="1"/>
          <p:nvPr/>
        </p:nvSpPr>
        <p:spPr>
          <a:xfrm>
            <a:off x="594360" y="2484120"/>
            <a:ext cx="2971800" cy="10515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7800"/>
              </a:lnSpc>
              <a:spcAft>
                <a:spcPts val="0"/>
              </a:spcAft>
              <a:defRPr sz="6000">
                <a:solidFill>
                  <a:srgbClr val="D9C4CE"/>
                </a:solidFill>
                <a:latin typeface="IBM Plex Sans Medm"/>
              </a:defRPr>
            </a:pPr>
            <a:r>
              <a:t>01</a:t>
            </a:r>
          </a:p>
        </p:txBody>
      </p:sp>
      <p:cxnSp>
        <p:nvCxnSpPr>
          <p:cNvPr id="9" name="TenBeltz / line / 08"/>
          <p:cNvCxnSpPr/>
          <p:nvPr/>
        </p:nvCxnSpPr>
        <p:spPr>
          <a:xfrm>
            <a:off x="594360" y="3489960"/>
            <a:ext cx="3276600" cy="0"/>
          </a:xfrm>
          <a:prstGeom prst="line">
            <a:avLst/>
          </a:prstGeom>
          <a:ln w="7620">
            <a:solidFill>
              <a:srgbClr val="D9DC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nBeltz / text / 09"/>
          <p:cNvSpPr txBox="1"/>
          <p:nvPr/>
        </p:nvSpPr>
        <p:spPr>
          <a:xfrm>
            <a:off x="594360" y="3718560"/>
            <a:ext cx="3200400" cy="5166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587"/>
              </a:lnSpc>
              <a:spcAft>
                <a:spcPts val="0"/>
              </a:spcAft>
              <a:defRPr sz="2760">
                <a:solidFill>
                  <a:srgbClr val="583346"/>
                </a:solidFill>
                <a:latin typeface="IBM Plex Sans Medm"/>
              </a:defRPr>
            </a:pPr>
            <a:r>
              <a:t>[Punto 1]</a:t>
            </a:r>
          </a:p>
        </p:txBody>
      </p:sp>
      <p:sp>
        <p:nvSpPr>
          <p:cNvPr id="11" name="TenBeltz / text / 10"/>
          <p:cNvSpPr txBox="1"/>
          <p:nvPr/>
        </p:nvSpPr>
        <p:spPr>
          <a:xfrm>
            <a:off x="594360" y="4411980"/>
            <a:ext cx="3086100" cy="33832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84"/>
              </a:lnSpc>
              <a:spcAft>
                <a:spcPts val="0"/>
              </a:spcAft>
              <a:defRPr sz="1680">
                <a:solidFill>
                  <a:srgbClr val="676B65"/>
                </a:solidFill>
                <a:latin typeface="IBM Plex Sans"/>
              </a:defRPr>
            </a:pPr>
            <a:r>
              <a:t>[Descripción breve.]</a:t>
            </a:r>
          </a:p>
        </p:txBody>
      </p:sp>
      <p:sp>
        <p:nvSpPr>
          <p:cNvPr id="12" name="TenBeltz / text / 11"/>
          <p:cNvSpPr txBox="1"/>
          <p:nvPr/>
        </p:nvSpPr>
        <p:spPr>
          <a:xfrm>
            <a:off x="4328160" y="2484120"/>
            <a:ext cx="2971800" cy="10515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7800"/>
              </a:lnSpc>
              <a:spcAft>
                <a:spcPts val="0"/>
              </a:spcAft>
              <a:defRPr sz="6000">
                <a:solidFill>
                  <a:srgbClr val="D9C4CE"/>
                </a:solidFill>
                <a:latin typeface="IBM Plex Sans Medm"/>
              </a:defRPr>
            </a:pPr>
            <a:r>
              <a:t>02</a:t>
            </a:r>
          </a:p>
        </p:txBody>
      </p:sp>
      <p:cxnSp>
        <p:nvCxnSpPr>
          <p:cNvPr id="13" name="TenBeltz / line / 12"/>
          <p:cNvCxnSpPr/>
          <p:nvPr/>
        </p:nvCxnSpPr>
        <p:spPr>
          <a:xfrm>
            <a:off x="4328160" y="3489960"/>
            <a:ext cx="3276600" cy="0"/>
          </a:xfrm>
          <a:prstGeom prst="line">
            <a:avLst/>
          </a:prstGeom>
          <a:ln w="7620">
            <a:solidFill>
              <a:srgbClr val="D9DC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nBeltz / text / 13"/>
          <p:cNvSpPr txBox="1"/>
          <p:nvPr/>
        </p:nvSpPr>
        <p:spPr>
          <a:xfrm>
            <a:off x="4328160" y="3718560"/>
            <a:ext cx="3200400" cy="5166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587"/>
              </a:lnSpc>
              <a:spcAft>
                <a:spcPts val="0"/>
              </a:spcAft>
              <a:defRPr sz="2760">
                <a:solidFill>
                  <a:srgbClr val="583346"/>
                </a:solidFill>
                <a:latin typeface="IBM Plex Sans Medm"/>
              </a:defRPr>
            </a:pPr>
            <a:r>
              <a:t>[Punto 2]</a:t>
            </a:r>
          </a:p>
        </p:txBody>
      </p:sp>
      <p:sp>
        <p:nvSpPr>
          <p:cNvPr id="15" name="TenBeltz / text / 14"/>
          <p:cNvSpPr txBox="1"/>
          <p:nvPr/>
        </p:nvSpPr>
        <p:spPr>
          <a:xfrm>
            <a:off x="4328160" y="4411980"/>
            <a:ext cx="3086100" cy="33832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84"/>
              </a:lnSpc>
              <a:spcAft>
                <a:spcPts val="0"/>
              </a:spcAft>
              <a:defRPr sz="1680">
                <a:solidFill>
                  <a:srgbClr val="676B65"/>
                </a:solidFill>
                <a:latin typeface="IBM Plex Sans"/>
              </a:defRPr>
            </a:pPr>
            <a:r>
              <a:t>[Descripción breve.]</a:t>
            </a:r>
          </a:p>
        </p:txBody>
      </p:sp>
      <p:sp>
        <p:nvSpPr>
          <p:cNvPr id="16" name="TenBeltz / text / 15"/>
          <p:cNvSpPr txBox="1"/>
          <p:nvPr/>
        </p:nvSpPr>
        <p:spPr>
          <a:xfrm>
            <a:off x="8061960" y="2484120"/>
            <a:ext cx="2971800" cy="10515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7800"/>
              </a:lnSpc>
              <a:spcAft>
                <a:spcPts val="0"/>
              </a:spcAft>
              <a:defRPr sz="6000">
                <a:solidFill>
                  <a:srgbClr val="D9C4CE"/>
                </a:solidFill>
                <a:latin typeface="IBM Plex Sans Medm"/>
              </a:defRPr>
            </a:pPr>
            <a:r>
              <a:t>03</a:t>
            </a:r>
          </a:p>
        </p:txBody>
      </p:sp>
      <p:cxnSp>
        <p:nvCxnSpPr>
          <p:cNvPr id="17" name="TenBeltz / line / 16"/>
          <p:cNvCxnSpPr/>
          <p:nvPr/>
        </p:nvCxnSpPr>
        <p:spPr>
          <a:xfrm>
            <a:off x="8061960" y="3489960"/>
            <a:ext cx="3276600" cy="0"/>
          </a:xfrm>
          <a:prstGeom prst="line">
            <a:avLst/>
          </a:prstGeom>
          <a:ln w="7620">
            <a:solidFill>
              <a:srgbClr val="D9DC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nBeltz / text / 17"/>
          <p:cNvSpPr txBox="1"/>
          <p:nvPr/>
        </p:nvSpPr>
        <p:spPr>
          <a:xfrm>
            <a:off x="8061960" y="3718560"/>
            <a:ext cx="3200400" cy="5166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587"/>
              </a:lnSpc>
              <a:spcAft>
                <a:spcPts val="0"/>
              </a:spcAft>
              <a:defRPr sz="2760">
                <a:solidFill>
                  <a:srgbClr val="583346"/>
                </a:solidFill>
                <a:latin typeface="IBM Plex Sans Medm"/>
              </a:defRPr>
            </a:pPr>
            <a:r>
              <a:t>[Punto 3]</a:t>
            </a:r>
          </a:p>
        </p:txBody>
      </p:sp>
      <p:sp>
        <p:nvSpPr>
          <p:cNvPr id="19" name="TenBeltz / text / 18"/>
          <p:cNvSpPr txBox="1"/>
          <p:nvPr/>
        </p:nvSpPr>
        <p:spPr>
          <a:xfrm>
            <a:off x="8061960" y="4411980"/>
            <a:ext cx="3086100" cy="33832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84"/>
              </a:lnSpc>
              <a:spcAft>
                <a:spcPts val="0"/>
              </a:spcAft>
              <a:defRPr sz="1680">
                <a:solidFill>
                  <a:srgbClr val="676B65"/>
                </a:solidFill>
                <a:latin typeface="IBM Plex Sans"/>
              </a:defRPr>
            </a:pPr>
            <a:r>
              <a:t>[Descripción breve.]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TenBeltz / image / 01" descr="tenbeltz-horizontal-col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426720"/>
            <a:ext cx="1790700" cy="392482"/>
          </a:xfrm>
          <a:prstGeom prst="rect">
            <a:avLst/>
          </a:prstGeom>
        </p:spPr>
      </p:pic>
      <p:sp>
        <p:nvSpPr>
          <p:cNvPr id="3" name="TenBeltz / text / 02"/>
          <p:cNvSpPr txBox="1"/>
          <p:nvPr/>
        </p:nvSpPr>
        <p:spPr>
          <a:xfrm>
            <a:off x="9829800" y="510540"/>
            <a:ext cx="1790700" cy="2392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04"/>
              </a:lnSpc>
              <a:spcAft>
                <a:spcPts val="0"/>
              </a:spcAft>
              <a:defRPr sz="1080">
                <a:solidFill>
                  <a:srgbClr val="676B65"/>
                </a:solidFill>
                <a:latin typeface="IBM Plex Sans"/>
              </a:defRPr>
            </a:pPr>
            <a:r>
              <a:t>tenbeltz.com</a:t>
            </a:r>
          </a:p>
        </p:txBody>
      </p:sp>
      <p:cxnSp>
        <p:nvCxnSpPr>
          <p:cNvPr id="4" name="TenBeltz / line / 03"/>
          <p:cNvCxnSpPr/>
          <p:nvPr/>
        </p:nvCxnSpPr>
        <p:spPr>
          <a:xfrm>
            <a:off x="594360" y="6225540"/>
            <a:ext cx="11003280" cy="0"/>
          </a:xfrm>
          <a:prstGeom prst="line">
            <a:avLst/>
          </a:prstGeom>
          <a:ln w="7620">
            <a:solidFill>
              <a:srgbClr val="D9DC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nBeltz / text / 04"/>
          <p:cNvSpPr txBox="1"/>
          <p:nvPr/>
        </p:nvSpPr>
        <p:spPr>
          <a:xfrm>
            <a:off x="594360" y="6416040"/>
            <a:ext cx="7239000" cy="2095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170"/>
              </a:lnSpc>
              <a:spcAft>
                <a:spcPts val="0"/>
              </a:spcAft>
              <a:defRPr sz="900">
                <a:solidFill>
                  <a:srgbClr val="676B65"/>
                </a:solidFill>
                <a:latin typeface="IBM Plex Sans"/>
              </a:defRPr>
            </a:pPr>
            <a:r>
              <a:t>TENBELTZ / BRAND SYSTEM 2026.10</a:t>
            </a:r>
          </a:p>
        </p:txBody>
      </p:sp>
      <p:sp>
        <p:nvSpPr>
          <p:cNvPr id="6" name="TenBeltz / text / 05"/>
          <p:cNvSpPr txBox="1"/>
          <p:nvPr/>
        </p:nvSpPr>
        <p:spPr>
          <a:xfrm>
            <a:off x="10820400" y="6416040"/>
            <a:ext cx="723900" cy="2095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170"/>
              </a:lnSpc>
              <a:spcAft>
                <a:spcPts val="0"/>
              </a:spcAft>
              <a:defRPr sz="900">
                <a:solidFill>
                  <a:srgbClr val="676B65"/>
                </a:solidFill>
                <a:latin typeface="IBM Plex Sans"/>
              </a:defRPr>
            </a:pPr>
            <a:r>
              <a:t>05 / 10</a:t>
            </a:r>
          </a:p>
        </p:txBody>
      </p:sp>
      <p:sp>
        <p:nvSpPr>
          <p:cNvPr id="7" name="TenBeltz / text / 06"/>
          <p:cNvSpPr txBox="1"/>
          <p:nvPr/>
        </p:nvSpPr>
        <p:spPr>
          <a:xfrm>
            <a:off x="594360" y="1447800"/>
            <a:ext cx="10972800" cy="6355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4523"/>
              </a:lnSpc>
              <a:spcAft>
                <a:spcPts val="0"/>
              </a:spcAft>
              <a:defRPr sz="3479">
                <a:solidFill>
                  <a:srgbClr val="252826"/>
                </a:solidFill>
                <a:latin typeface="IBM Plex Sans Medm"/>
              </a:defRPr>
            </a:pPr>
            <a:r>
              <a:t>[Proceso y entregables]</a:t>
            </a:r>
          </a:p>
        </p:txBody>
      </p:sp>
      <p:cxnSp>
        <p:nvCxnSpPr>
          <p:cNvPr id="8" name="TenBeltz / line / 07"/>
          <p:cNvCxnSpPr/>
          <p:nvPr/>
        </p:nvCxnSpPr>
        <p:spPr>
          <a:xfrm>
            <a:off x="1310640" y="3139440"/>
            <a:ext cx="9585960" cy="0"/>
          </a:xfrm>
          <a:prstGeom prst="line">
            <a:avLst/>
          </a:prstGeom>
          <a:ln w="15240">
            <a:solidFill>
              <a:srgbClr val="5833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nBeltz / circle / 08"/>
          <p:cNvSpPr/>
          <p:nvPr/>
        </p:nvSpPr>
        <p:spPr>
          <a:xfrm>
            <a:off x="670560" y="3063240"/>
            <a:ext cx="152400" cy="152400"/>
          </a:xfrm>
          <a:prstGeom prst="ellipse">
            <a:avLst/>
          </a:prstGeom>
          <a:solidFill>
            <a:srgbClr val="5833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nBeltz / text / 09"/>
          <p:cNvSpPr txBox="1"/>
          <p:nvPr/>
        </p:nvSpPr>
        <p:spPr>
          <a:xfrm>
            <a:off x="594360" y="2385060"/>
            <a:ext cx="2133600" cy="6156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4368"/>
              </a:lnSpc>
              <a:spcAft>
                <a:spcPts val="0"/>
              </a:spcAft>
              <a:defRPr sz="3360">
                <a:solidFill>
                  <a:srgbClr val="583346"/>
                </a:solidFill>
                <a:latin typeface="IBM Plex Sans Medm"/>
              </a:defRPr>
            </a:pPr>
            <a:r>
              <a:t>01</a:t>
            </a:r>
          </a:p>
        </p:txBody>
      </p:sp>
      <p:sp>
        <p:nvSpPr>
          <p:cNvPr id="11" name="TenBeltz / text / 10"/>
          <p:cNvSpPr txBox="1"/>
          <p:nvPr/>
        </p:nvSpPr>
        <p:spPr>
          <a:xfrm>
            <a:off x="594360" y="3528060"/>
            <a:ext cx="2385060" cy="36804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418"/>
              </a:lnSpc>
              <a:spcAft>
                <a:spcPts val="0"/>
              </a:spcAft>
              <a:defRPr sz="1859">
                <a:solidFill>
                  <a:srgbClr val="252826"/>
                </a:solidFill>
                <a:latin typeface="IBM Plex Sans Medm"/>
              </a:defRPr>
            </a:pPr>
            <a:r>
              <a:t>[Paso]</a:t>
            </a:r>
          </a:p>
        </p:txBody>
      </p:sp>
      <p:sp>
        <p:nvSpPr>
          <p:cNvPr id="12" name="TenBeltz / text / 11"/>
          <p:cNvSpPr txBox="1"/>
          <p:nvPr/>
        </p:nvSpPr>
        <p:spPr>
          <a:xfrm>
            <a:off x="594360" y="4168140"/>
            <a:ext cx="2286000" cy="32842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06"/>
              </a:lnSpc>
              <a:spcAft>
                <a:spcPts val="0"/>
              </a:spcAft>
              <a:defRPr sz="1620">
                <a:solidFill>
                  <a:srgbClr val="676B65"/>
                </a:solidFill>
                <a:latin typeface="IBM Plex Sans"/>
              </a:defRPr>
            </a:pPr>
            <a:r>
              <a:t>[Entrada]</a:t>
            </a:r>
          </a:p>
        </p:txBody>
      </p:sp>
      <p:sp>
        <p:nvSpPr>
          <p:cNvPr id="13" name="TenBeltz / circle / 12"/>
          <p:cNvSpPr/>
          <p:nvPr/>
        </p:nvSpPr>
        <p:spPr>
          <a:xfrm>
            <a:off x="3528060" y="3063240"/>
            <a:ext cx="152400" cy="152400"/>
          </a:xfrm>
          <a:prstGeom prst="ellipse">
            <a:avLst/>
          </a:prstGeom>
          <a:solidFill>
            <a:srgbClr val="5833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nBeltz / text / 13"/>
          <p:cNvSpPr txBox="1"/>
          <p:nvPr/>
        </p:nvSpPr>
        <p:spPr>
          <a:xfrm>
            <a:off x="3451860" y="2385060"/>
            <a:ext cx="2133600" cy="6156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4368"/>
              </a:lnSpc>
              <a:spcAft>
                <a:spcPts val="0"/>
              </a:spcAft>
              <a:defRPr sz="3360">
                <a:solidFill>
                  <a:srgbClr val="583346"/>
                </a:solidFill>
                <a:latin typeface="IBM Plex Sans Medm"/>
              </a:defRPr>
            </a:pPr>
            <a:r>
              <a:t>02</a:t>
            </a:r>
          </a:p>
        </p:txBody>
      </p:sp>
      <p:sp>
        <p:nvSpPr>
          <p:cNvPr id="15" name="TenBeltz / text / 14"/>
          <p:cNvSpPr txBox="1"/>
          <p:nvPr/>
        </p:nvSpPr>
        <p:spPr>
          <a:xfrm>
            <a:off x="3451860" y="3528060"/>
            <a:ext cx="2385060" cy="36804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418"/>
              </a:lnSpc>
              <a:spcAft>
                <a:spcPts val="0"/>
              </a:spcAft>
              <a:defRPr sz="1859">
                <a:solidFill>
                  <a:srgbClr val="252826"/>
                </a:solidFill>
                <a:latin typeface="IBM Plex Sans Medm"/>
              </a:defRPr>
            </a:pPr>
            <a:r>
              <a:t>[Paso]</a:t>
            </a:r>
          </a:p>
        </p:txBody>
      </p:sp>
      <p:sp>
        <p:nvSpPr>
          <p:cNvPr id="16" name="TenBeltz / text / 15"/>
          <p:cNvSpPr txBox="1"/>
          <p:nvPr/>
        </p:nvSpPr>
        <p:spPr>
          <a:xfrm>
            <a:off x="3451860" y="4168140"/>
            <a:ext cx="2286000" cy="32842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06"/>
              </a:lnSpc>
              <a:spcAft>
                <a:spcPts val="0"/>
              </a:spcAft>
              <a:defRPr sz="1620">
                <a:solidFill>
                  <a:srgbClr val="676B65"/>
                </a:solidFill>
                <a:latin typeface="IBM Plex Sans"/>
              </a:defRPr>
            </a:pPr>
            <a:r>
              <a:t>[Decisión]</a:t>
            </a:r>
          </a:p>
        </p:txBody>
      </p:sp>
      <p:sp>
        <p:nvSpPr>
          <p:cNvPr id="17" name="TenBeltz / circle / 16"/>
          <p:cNvSpPr/>
          <p:nvPr/>
        </p:nvSpPr>
        <p:spPr>
          <a:xfrm>
            <a:off x="6385560" y="3063240"/>
            <a:ext cx="152400" cy="152400"/>
          </a:xfrm>
          <a:prstGeom prst="ellipse">
            <a:avLst/>
          </a:prstGeom>
          <a:solidFill>
            <a:srgbClr val="5833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nBeltz / text / 17"/>
          <p:cNvSpPr txBox="1"/>
          <p:nvPr/>
        </p:nvSpPr>
        <p:spPr>
          <a:xfrm>
            <a:off x="6309360" y="2385060"/>
            <a:ext cx="2133600" cy="6156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4368"/>
              </a:lnSpc>
              <a:spcAft>
                <a:spcPts val="0"/>
              </a:spcAft>
              <a:defRPr sz="3360">
                <a:solidFill>
                  <a:srgbClr val="583346"/>
                </a:solidFill>
                <a:latin typeface="IBM Plex Sans Medm"/>
              </a:defRPr>
            </a:pPr>
            <a:r>
              <a:t>03</a:t>
            </a:r>
          </a:p>
        </p:txBody>
      </p:sp>
      <p:sp>
        <p:nvSpPr>
          <p:cNvPr id="19" name="TenBeltz / text / 18"/>
          <p:cNvSpPr txBox="1"/>
          <p:nvPr/>
        </p:nvSpPr>
        <p:spPr>
          <a:xfrm>
            <a:off x="6309360" y="3528060"/>
            <a:ext cx="2385060" cy="36804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418"/>
              </a:lnSpc>
              <a:spcAft>
                <a:spcPts val="0"/>
              </a:spcAft>
              <a:defRPr sz="1859">
                <a:solidFill>
                  <a:srgbClr val="252826"/>
                </a:solidFill>
                <a:latin typeface="IBM Plex Sans Medm"/>
              </a:defRPr>
            </a:pPr>
            <a:r>
              <a:t>[Paso]</a:t>
            </a:r>
          </a:p>
        </p:txBody>
      </p:sp>
      <p:sp>
        <p:nvSpPr>
          <p:cNvPr id="20" name="TenBeltz / text / 19"/>
          <p:cNvSpPr txBox="1"/>
          <p:nvPr/>
        </p:nvSpPr>
        <p:spPr>
          <a:xfrm>
            <a:off x="6309360" y="4168140"/>
            <a:ext cx="2286000" cy="32842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06"/>
              </a:lnSpc>
              <a:spcAft>
                <a:spcPts val="0"/>
              </a:spcAft>
              <a:defRPr sz="1620">
                <a:solidFill>
                  <a:srgbClr val="676B65"/>
                </a:solidFill>
                <a:latin typeface="IBM Plex Sans"/>
              </a:defRPr>
            </a:pPr>
            <a:r>
              <a:t>[Entregable]</a:t>
            </a:r>
          </a:p>
        </p:txBody>
      </p:sp>
      <p:sp>
        <p:nvSpPr>
          <p:cNvPr id="21" name="TenBeltz / circle / 20"/>
          <p:cNvSpPr/>
          <p:nvPr/>
        </p:nvSpPr>
        <p:spPr>
          <a:xfrm>
            <a:off x="9243060" y="3063240"/>
            <a:ext cx="152400" cy="152400"/>
          </a:xfrm>
          <a:prstGeom prst="ellipse">
            <a:avLst/>
          </a:prstGeom>
          <a:solidFill>
            <a:srgbClr val="5833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nBeltz / text / 21"/>
          <p:cNvSpPr txBox="1"/>
          <p:nvPr/>
        </p:nvSpPr>
        <p:spPr>
          <a:xfrm>
            <a:off x="9166860" y="2385060"/>
            <a:ext cx="2133600" cy="6156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4368"/>
              </a:lnSpc>
              <a:spcAft>
                <a:spcPts val="0"/>
              </a:spcAft>
              <a:defRPr sz="3360">
                <a:solidFill>
                  <a:srgbClr val="583346"/>
                </a:solidFill>
                <a:latin typeface="IBM Plex Sans Medm"/>
              </a:defRPr>
            </a:pPr>
            <a:r>
              <a:t>04</a:t>
            </a:r>
          </a:p>
        </p:txBody>
      </p:sp>
      <p:sp>
        <p:nvSpPr>
          <p:cNvPr id="23" name="TenBeltz / text / 22"/>
          <p:cNvSpPr txBox="1"/>
          <p:nvPr/>
        </p:nvSpPr>
        <p:spPr>
          <a:xfrm>
            <a:off x="9166860" y="3528060"/>
            <a:ext cx="2385060" cy="36804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418"/>
              </a:lnSpc>
              <a:spcAft>
                <a:spcPts val="0"/>
              </a:spcAft>
              <a:defRPr sz="1859">
                <a:solidFill>
                  <a:srgbClr val="252826"/>
                </a:solidFill>
                <a:latin typeface="IBM Plex Sans Medm"/>
              </a:defRPr>
            </a:pPr>
            <a:r>
              <a:t>[Paso]</a:t>
            </a:r>
          </a:p>
        </p:txBody>
      </p:sp>
      <p:sp>
        <p:nvSpPr>
          <p:cNvPr id="24" name="TenBeltz / text / 23"/>
          <p:cNvSpPr txBox="1"/>
          <p:nvPr/>
        </p:nvSpPr>
        <p:spPr>
          <a:xfrm>
            <a:off x="9166860" y="4168140"/>
            <a:ext cx="2286000" cy="32842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06"/>
              </a:lnSpc>
              <a:spcAft>
                <a:spcPts val="0"/>
              </a:spcAft>
              <a:defRPr sz="1620">
                <a:solidFill>
                  <a:srgbClr val="676B65"/>
                </a:solidFill>
                <a:latin typeface="IBM Plex Sans"/>
              </a:defRPr>
            </a:pPr>
            <a:r>
              <a:t>[Validación]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TenBeltz / image / 01" descr="tenbeltz-horizontal-col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426720"/>
            <a:ext cx="1790700" cy="392482"/>
          </a:xfrm>
          <a:prstGeom prst="rect">
            <a:avLst/>
          </a:prstGeom>
        </p:spPr>
      </p:pic>
      <p:sp>
        <p:nvSpPr>
          <p:cNvPr id="3" name="TenBeltz / text / 02"/>
          <p:cNvSpPr txBox="1"/>
          <p:nvPr/>
        </p:nvSpPr>
        <p:spPr>
          <a:xfrm>
            <a:off x="9829800" y="510540"/>
            <a:ext cx="1790700" cy="2392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04"/>
              </a:lnSpc>
              <a:spcAft>
                <a:spcPts val="0"/>
              </a:spcAft>
              <a:defRPr sz="1080">
                <a:solidFill>
                  <a:srgbClr val="676B65"/>
                </a:solidFill>
                <a:latin typeface="IBM Plex Sans"/>
              </a:defRPr>
            </a:pPr>
            <a:r>
              <a:t>tenbeltz.com</a:t>
            </a:r>
          </a:p>
        </p:txBody>
      </p:sp>
      <p:cxnSp>
        <p:nvCxnSpPr>
          <p:cNvPr id="4" name="TenBeltz / line / 03"/>
          <p:cNvCxnSpPr/>
          <p:nvPr/>
        </p:nvCxnSpPr>
        <p:spPr>
          <a:xfrm>
            <a:off x="594360" y="6225540"/>
            <a:ext cx="11003280" cy="0"/>
          </a:xfrm>
          <a:prstGeom prst="line">
            <a:avLst/>
          </a:prstGeom>
          <a:ln w="7620">
            <a:solidFill>
              <a:srgbClr val="D9DC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nBeltz / text / 04"/>
          <p:cNvSpPr txBox="1"/>
          <p:nvPr/>
        </p:nvSpPr>
        <p:spPr>
          <a:xfrm>
            <a:off x="594360" y="6416040"/>
            <a:ext cx="7239000" cy="2095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170"/>
              </a:lnSpc>
              <a:spcAft>
                <a:spcPts val="0"/>
              </a:spcAft>
              <a:defRPr sz="900">
                <a:solidFill>
                  <a:srgbClr val="676B65"/>
                </a:solidFill>
                <a:latin typeface="IBM Plex Sans"/>
              </a:defRPr>
            </a:pPr>
            <a:r>
              <a:t>TENBELTZ / BRAND SYSTEM 2026.10</a:t>
            </a:r>
          </a:p>
        </p:txBody>
      </p:sp>
      <p:sp>
        <p:nvSpPr>
          <p:cNvPr id="6" name="TenBeltz / text / 05"/>
          <p:cNvSpPr txBox="1"/>
          <p:nvPr/>
        </p:nvSpPr>
        <p:spPr>
          <a:xfrm>
            <a:off x="10820400" y="6416040"/>
            <a:ext cx="723900" cy="2095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170"/>
              </a:lnSpc>
              <a:spcAft>
                <a:spcPts val="0"/>
              </a:spcAft>
              <a:defRPr sz="900">
                <a:solidFill>
                  <a:srgbClr val="676B65"/>
                </a:solidFill>
                <a:latin typeface="IBM Plex Sans"/>
              </a:defRPr>
            </a:pPr>
            <a:r>
              <a:t>06 / 10</a:t>
            </a:r>
          </a:p>
        </p:txBody>
      </p:sp>
      <p:sp>
        <p:nvSpPr>
          <p:cNvPr id="7" name="TenBeltz / text / 06"/>
          <p:cNvSpPr txBox="1"/>
          <p:nvPr/>
        </p:nvSpPr>
        <p:spPr>
          <a:xfrm>
            <a:off x="594360" y="1447800"/>
            <a:ext cx="10744200" cy="6751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4836"/>
              </a:lnSpc>
              <a:spcAft>
                <a:spcPts val="0"/>
              </a:spcAft>
              <a:defRPr sz="3719">
                <a:solidFill>
                  <a:srgbClr val="252826"/>
                </a:solidFill>
                <a:latin typeface="IBM Plex Sans Medm"/>
              </a:defRPr>
            </a:pPr>
            <a:r>
              <a:t>[Caso de proyecto]</a:t>
            </a:r>
          </a:p>
        </p:txBody>
      </p:sp>
      <p:sp>
        <p:nvSpPr>
          <p:cNvPr id="8" name="TenBeltz / text / 07"/>
          <p:cNvSpPr txBox="1"/>
          <p:nvPr/>
        </p:nvSpPr>
        <p:spPr>
          <a:xfrm>
            <a:off x="594360" y="2628900"/>
            <a:ext cx="762000" cy="3086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950"/>
              </a:lnSpc>
              <a:spcAft>
                <a:spcPts val="0"/>
              </a:spcAft>
              <a:defRPr sz="1500">
                <a:solidFill>
                  <a:srgbClr val="583346"/>
                </a:solidFill>
                <a:latin typeface="IBM Plex Sans Medm"/>
              </a:defRPr>
            </a:pPr>
            <a:r>
              <a:t>01</a:t>
            </a:r>
          </a:p>
        </p:txBody>
      </p:sp>
      <p:sp>
        <p:nvSpPr>
          <p:cNvPr id="9" name="TenBeltz / text / 08"/>
          <p:cNvSpPr txBox="1"/>
          <p:nvPr/>
        </p:nvSpPr>
        <p:spPr>
          <a:xfrm>
            <a:off x="1615440" y="2560320"/>
            <a:ext cx="3429000" cy="49682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432"/>
              </a:lnSpc>
              <a:spcAft>
                <a:spcPts val="0"/>
              </a:spcAft>
              <a:defRPr sz="2640">
                <a:solidFill>
                  <a:srgbClr val="252826"/>
                </a:solidFill>
                <a:latin typeface="IBM Plex Sans Medm"/>
              </a:defRPr>
            </a:pPr>
            <a:r>
              <a:t>Contexto</a:t>
            </a:r>
          </a:p>
        </p:txBody>
      </p:sp>
      <p:cxnSp>
        <p:nvCxnSpPr>
          <p:cNvPr id="10" name="TenBeltz / line / 09"/>
          <p:cNvCxnSpPr/>
          <p:nvPr/>
        </p:nvCxnSpPr>
        <p:spPr>
          <a:xfrm>
            <a:off x="594360" y="3253740"/>
            <a:ext cx="4754880" cy="0"/>
          </a:xfrm>
          <a:prstGeom prst="line">
            <a:avLst/>
          </a:prstGeom>
          <a:ln w="7620">
            <a:solidFill>
              <a:srgbClr val="D9DC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nBeltz / text / 10"/>
          <p:cNvSpPr txBox="1"/>
          <p:nvPr/>
        </p:nvSpPr>
        <p:spPr>
          <a:xfrm>
            <a:off x="594360" y="3619500"/>
            <a:ext cx="762000" cy="3086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950"/>
              </a:lnSpc>
              <a:spcAft>
                <a:spcPts val="0"/>
              </a:spcAft>
              <a:defRPr sz="1500">
                <a:solidFill>
                  <a:srgbClr val="583346"/>
                </a:solidFill>
                <a:latin typeface="IBM Plex Sans Medm"/>
              </a:defRPr>
            </a:pPr>
            <a:r>
              <a:t>02</a:t>
            </a:r>
          </a:p>
        </p:txBody>
      </p:sp>
      <p:sp>
        <p:nvSpPr>
          <p:cNvPr id="12" name="TenBeltz / text / 11"/>
          <p:cNvSpPr txBox="1"/>
          <p:nvPr/>
        </p:nvSpPr>
        <p:spPr>
          <a:xfrm>
            <a:off x="1615440" y="3550920"/>
            <a:ext cx="3429000" cy="49682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432"/>
              </a:lnSpc>
              <a:spcAft>
                <a:spcPts val="0"/>
              </a:spcAft>
              <a:defRPr sz="2640">
                <a:solidFill>
                  <a:srgbClr val="252826"/>
                </a:solidFill>
                <a:latin typeface="IBM Plex Sans Medm"/>
              </a:defRPr>
            </a:pPr>
            <a:r>
              <a:t>Contribución</a:t>
            </a:r>
          </a:p>
        </p:txBody>
      </p:sp>
      <p:cxnSp>
        <p:nvCxnSpPr>
          <p:cNvPr id="13" name="TenBeltz / line / 12"/>
          <p:cNvCxnSpPr/>
          <p:nvPr/>
        </p:nvCxnSpPr>
        <p:spPr>
          <a:xfrm>
            <a:off x="594360" y="4244340"/>
            <a:ext cx="4754880" cy="0"/>
          </a:xfrm>
          <a:prstGeom prst="line">
            <a:avLst/>
          </a:prstGeom>
          <a:ln w="7620">
            <a:solidFill>
              <a:srgbClr val="D9DC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nBeltz / text / 13"/>
          <p:cNvSpPr txBox="1"/>
          <p:nvPr/>
        </p:nvSpPr>
        <p:spPr>
          <a:xfrm>
            <a:off x="594360" y="4610100"/>
            <a:ext cx="762000" cy="3086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950"/>
              </a:lnSpc>
              <a:spcAft>
                <a:spcPts val="0"/>
              </a:spcAft>
              <a:defRPr sz="1500">
                <a:solidFill>
                  <a:srgbClr val="583346"/>
                </a:solidFill>
                <a:latin typeface="IBM Plex Sans Medm"/>
              </a:defRPr>
            </a:pPr>
            <a:r>
              <a:t>03</a:t>
            </a:r>
          </a:p>
        </p:txBody>
      </p:sp>
      <p:sp>
        <p:nvSpPr>
          <p:cNvPr id="15" name="TenBeltz / text / 14"/>
          <p:cNvSpPr txBox="1"/>
          <p:nvPr/>
        </p:nvSpPr>
        <p:spPr>
          <a:xfrm>
            <a:off x="1615440" y="4541520"/>
            <a:ext cx="3429000" cy="49682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432"/>
              </a:lnSpc>
              <a:spcAft>
                <a:spcPts val="0"/>
              </a:spcAft>
              <a:defRPr sz="2640">
                <a:solidFill>
                  <a:srgbClr val="252826"/>
                </a:solidFill>
                <a:latin typeface="IBM Plex Sans Medm"/>
              </a:defRPr>
            </a:pPr>
            <a:r>
              <a:t>Evidencia</a:t>
            </a:r>
          </a:p>
        </p:txBody>
      </p:sp>
      <p:cxnSp>
        <p:nvCxnSpPr>
          <p:cNvPr id="16" name="TenBeltz / line / 15"/>
          <p:cNvCxnSpPr/>
          <p:nvPr/>
        </p:nvCxnSpPr>
        <p:spPr>
          <a:xfrm>
            <a:off x="594360" y="5234940"/>
            <a:ext cx="4754880" cy="0"/>
          </a:xfrm>
          <a:prstGeom prst="line">
            <a:avLst/>
          </a:prstGeom>
          <a:ln w="7620">
            <a:solidFill>
              <a:srgbClr val="D9DC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nBeltz / text / 16"/>
          <p:cNvSpPr txBox="1"/>
          <p:nvPr/>
        </p:nvSpPr>
        <p:spPr>
          <a:xfrm>
            <a:off x="6743700" y="2613660"/>
            <a:ext cx="4762500" cy="28879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793"/>
              </a:lnSpc>
              <a:spcAft>
                <a:spcPts val="0"/>
              </a:spcAft>
              <a:defRPr sz="1380">
                <a:solidFill>
                  <a:srgbClr val="583346"/>
                </a:solidFill>
                <a:latin typeface="IBM Plex Sans Medm"/>
              </a:defRPr>
            </a:pPr>
            <a:r>
              <a:t>[Contexto y relación]</a:t>
            </a:r>
          </a:p>
        </p:txBody>
      </p:sp>
      <p:sp>
        <p:nvSpPr>
          <p:cNvPr id="18" name="TenBeltz / text / 17"/>
          <p:cNvSpPr txBox="1"/>
          <p:nvPr/>
        </p:nvSpPr>
        <p:spPr>
          <a:xfrm>
            <a:off x="6743700" y="3002280"/>
            <a:ext cx="4572000" cy="6355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261"/>
              </a:lnSpc>
              <a:spcAft>
                <a:spcPts val="0"/>
              </a:spcAft>
              <a:defRPr sz="1739">
                <a:solidFill>
                  <a:srgbClr val="676B65"/>
                </a:solidFill>
                <a:latin typeface="IBM Plex Sans"/>
              </a:defRPr>
            </a:pPr>
            <a:r>
              <a:t>[Cliente / colaboración / producto cofundado.</a:t>
            </a:r>
          </a:p>
          <a:p>
            <a:pPr>
              <a:lnSpc>
                <a:spcPts val="2261"/>
              </a:lnSpc>
              <a:spcAft>
                <a:spcPts val="0"/>
              </a:spcAft>
              <a:defRPr sz="1739">
                <a:solidFill>
                  <a:srgbClr val="676B65"/>
                </a:solidFill>
                <a:latin typeface="IBM Plex Sans"/>
              </a:defRPr>
            </a:pPr>
            <a:r>
              <a:t>Añadir permiso y fuente.]</a:t>
            </a:r>
          </a:p>
        </p:txBody>
      </p:sp>
      <p:sp>
        <p:nvSpPr>
          <p:cNvPr id="19" name="TenBeltz / text / 18"/>
          <p:cNvSpPr txBox="1"/>
          <p:nvPr/>
        </p:nvSpPr>
        <p:spPr>
          <a:xfrm>
            <a:off x="6743700" y="4183380"/>
            <a:ext cx="4762500" cy="28879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793"/>
              </a:lnSpc>
              <a:spcAft>
                <a:spcPts val="0"/>
              </a:spcAft>
              <a:defRPr sz="1380">
                <a:solidFill>
                  <a:srgbClr val="583346"/>
                </a:solidFill>
                <a:latin typeface="IBM Plex Sans Medm"/>
              </a:defRPr>
            </a:pPr>
            <a:r>
              <a:t>[Contribución y evidencia]</a:t>
            </a:r>
          </a:p>
        </p:txBody>
      </p:sp>
      <p:sp>
        <p:nvSpPr>
          <p:cNvPr id="20" name="TenBeltz / text / 19"/>
          <p:cNvSpPr txBox="1"/>
          <p:nvPr/>
        </p:nvSpPr>
        <p:spPr>
          <a:xfrm>
            <a:off x="6743700" y="4572000"/>
            <a:ext cx="4572000" cy="6355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261"/>
              </a:lnSpc>
              <a:spcAft>
                <a:spcPts val="0"/>
              </a:spcAft>
              <a:defRPr sz="1739">
                <a:solidFill>
                  <a:srgbClr val="676B65"/>
                </a:solidFill>
                <a:latin typeface="IBM Plex Sans"/>
              </a:defRPr>
            </a:pPr>
            <a:r>
              <a:t>[Entregables, límites y resultados</a:t>
            </a:r>
          </a:p>
          <a:p>
            <a:pPr>
              <a:lnSpc>
                <a:spcPts val="2261"/>
              </a:lnSpc>
              <a:spcAft>
                <a:spcPts val="0"/>
              </a:spcAft>
              <a:defRPr sz="1739">
                <a:solidFill>
                  <a:srgbClr val="676B65"/>
                </a:solidFill>
                <a:latin typeface="IBM Plex Sans"/>
              </a:defRPr>
            </a:pPr>
            <a:r>
              <a:t>documentados.]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TenBeltz / image / 01" descr="tenbeltz-horizontal-col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426720"/>
            <a:ext cx="1790700" cy="392482"/>
          </a:xfrm>
          <a:prstGeom prst="rect">
            <a:avLst/>
          </a:prstGeom>
        </p:spPr>
      </p:pic>
      <p:sp>
        <p:nvSpPr>
          <p:cNvPr id="3" name="TenBeltz / text / 02"/>
          <p:cNvSpPr txBox="1"/>
          <p:nvPr/>
        </p:nvSpPr>
        <p:spPr>
          <a:xfrm>
            <a:off x="9829800" y="510540"/>
            <a:ext cx="1790700" cy="2392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04"/>
              </a:lnSpc>
              <a:spcAft>
                <a:spcPts val="0"/>
              </a:spcAft>
              <a:defRPr sz="1080">
                <a:solidFill>
                  <a:srgbClr val="676B65"/>
                </a:solidFill>
                <a:latin typeface="IBM Plex Sans"/>
              </a:defRPr>
            </a:pPr>
            <a:r>
              <a:t>tenbeltz.com</a:t>
            </a:r>
          </a:p>
        </p:txBody>
      </p:sp>
      <p:cxnSp>
        <p:nvCxnSpPr>
          <p:cNvPr id="4" name="TenBeltz / line / 03"/>
          <p:cNvCxnSpPr/>
          <p:nvPr/>
        </p:nvCxnSpPr>
        <p:spPr>
          <a:xfrm>
            <a:off x="594360" y="6225540"/>
            <a:ext cx="11003280" cy="0"/>
          </a:xfrm>
          <a:prstGeom prst="line">
            <a:avLst/>
          </a:prstGeom>
          <a:ln w="7620">
            <a:solidFill>
              <a:srgbClr val="D9DC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nBeltz / text / 04"/>
          <p:cNvSpPr txBox="1"/>
          <p:nvPr/>
        </p:nvSpPr>
        <p:spPr>
          <a:xfrm>
            <a:off x="594360" y="6416040"/>
            <a:ext cx="7239000" cy="2095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170"/>
              </a:lnSpc>
              <a:spcAft>
                <a:spcPts val="0"/>
              </a:spcAft>
              <a:defRPr sz="900">
                <a:solidFill>
                  <a:srgbClr val="676B65"/>
                </a:solidFill>
                <a:latin typeface="IBM Plex Sans"/>
              </a:defRPr>
            </a:pPr>
            <a:r>
              <a:t>TENBELTZ / BRAND SYSTEM 2026.10</a:t>
            </a:r>
          </a:p>
        </p:txBody>
      </p:sp>
      <p:sp>
        <p:nvSpPr>
          <p:cNvPr id="6" name="TenBeltz / text / 05"/>
          <p:cNvSpPr txBox="1"/>
          <p:nvPr/>
        </p:nvSpPr>
        <p:spPr>
          <a:xfrm>
            <a:off x="10820400" y="6416040"/>
            <a:ext cx="723900" cy="2095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170"/>
              </a:lnSpc>
              <a:spcAft>
                <a:spcPts val="0"/>
              </a:spcAft>
              <a:defRPr sz="900">
                <a:solidFill>
                  <a:srgbClr val="676B65"/>
                </a:solidFill>
                <a:latin typeface="IBM Plex Sans"/>
              </a:defRPr>
            </a:pPr>
            <a:r>
              <a:t>07 / 10</a:t>
            </a:r>
          </a:p>
        </p:txBody>
      </p:sp>
      <p:sp>
        <p:nvSpPr>
          <p:cNvPr id="7" name="TenBeltz / text / 06"/>
          <p:cNvSpPr txBox="1"/>
          <p:nvPr/>
        </p:nvSpPr>
        <p:spPr>
          <a:xfrm>
            <a:off x="594360" y="1447800"/>
            <a:ext cx="11049000" cy="59588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4212"/>
              </a:lnSpc>
              <a:spcAft>
                <a:spcPts val="0"/>
              </a:spcAft>
              <a:defRPr sz="3240">
                <a:solidFill>
                  <a:srgbClr val="252826"/>
                </a:solidFill>
                <a:latin typeface="IBM Plex Sans Medm"/>
              </a:defRPr>
            </a:pPr>
            <a:r>
              <a:t>[Comparación de alternativas]</a:t>
            </a:r>
          </a:p>
        </p:txBody>
      </p:sp>
      <p:sp>
        <p:nvSpPr>
          <p:cNvPr id="8" name="TenBeltz / rect / 07"/>
          <p:cNvSpPr/>
          <p:nvPr/>
        </p:nvSpPr>
        <p:spPr>
          <a:xfrm>
            <a:off x="594360" y="2598420"/>
            <a:ext cx="3649980" cy="685800"/>
          </a:xfrm>
          <a:prstGeom prst="rect">
            <a:avLst/>
          </a:prstGeom>
          <a:solidFill>
            <a:srgbClr val="5833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nBeltz / text / 08"/>
          <p:cNvSpPr txBox="1"/>
          <p:nvPr/>
        </p:nvSpPr>
        <p:spPr>
          <a:xfrm>
            <a:off x="777240" y="2781300"/>
            <a:ext cx="3276600" cy="33832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84"/>
              </a:lnSpc>
              <a:spcAft>
                <a:spcPts val="0"/>
              </a:spcAft>
              <a:defRPr sz="1680">
                <a:solidFill>
                  <a:srgbClr val="FFFFFF"/>
                </a:solidFill>
                <a:latin typeface="IBM Plex Sans"/>
              </a:defRPr>
            </a:pPr>
            <a:r>
              <a:t>Criterio</a:t>
            </a:r>
          </a:p>
        </p:txBody>
      </p:sp>
      <p:sp>
        <p:nvSpPr>
          <p:cNvPr id="10" name="TenBeltz / rect / 09"/>
          <p:cNvSpPr/>
          <p:nvPr/>
        </p:nvSpPr>
        <p:spPr>
          <a:xfrm>
            <a:off x="4259580" y="2598420"/>
            <a:ext cx="3649980" cy="685800"/>
          </a:xfrm>
          <a:prstGeom prst="rect">
            <a:avLst/>
          </a:prstGeom>
          <a:solidFill>
            <a:srgbClr val="5833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nBeltz / text / 10"/>
          <p:cNvSpPr txBox="1"/>
          <p:nvPr/>
        </p:nvSpPr>
        <p:spPr>
          <a:xfrm>
            <a:off x="4442460" y="2781300"/>
            <a:ext cx="3276600" cy="33832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84"/>
              </a:lnSpc>
              <a:spcAft>
                <a:spcPts val="0"/>
              </a:spcAft>
              <a:defRPr sz="1680">
                <a:solidFill>
                  <a:srgbClr val="FFFFFF"/>
                </a:solidFill>
                <a:latin typeface="IBM Plex Sans"/>
              </a:defRPr>
            </a:pPr>
            <a:r>
              <a:t>Alternativa A</a:t>
            </a:r>
          </a:p>
        </p:txBody>
      </p:sp>
      <p:sp>
        <p:nvSpPr>
          <p:cNvPr id="12" name="TenBeltz / rect / 11"/>
          <p:cNvSpPr/>
          <p:nvPr/>
        </p:nvSpPr>
        <p:spPr>
          <a:xfrm>
            <a:off x="7924799" y="2598420"/>
            <a:ext cx="3649980" cy="685800"/>
          </a:xfrm>
          <a:prstGeom prst="rect">
            <a:avLst/>
          </a:prstGeom>
          <a:solidFill>
            <a:srgbClr val="5833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nBeltz / text / 12"/>
          <p:cNvSpPr txBox="1"/>
          <p:nvPr/>
        </p:nvSpPr>
        <p:spPr>
          <a:xfrm>
            <a:off x="8107680" y="2781300"/>
            <a:ext cx="3276600" cy="33832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84"/>
              </a:lnSpc>
              <a:spcAft>
                <a:spcPts val="0"/>
              </a:spcAft>
              <a:defRPr sz="1680">
                <a:solidFill>
                  <a:srgbClr val="FFFFFF"/>
                </a:solidFill>
                <a:latin typeface="IBM Plex Sans"/>
              </a:defRPr>
            </a:pPr>
            <a:r>
              <a:t>Alternativa B</a:t>
            </a:r>
          </a:p>
        </p:txBody>
      </p:sp>
      <p:sp>
        <p:nvSpPr>
          <p:cNvPr id="14" name="TenBeltz / rect / 13"/>
          <p:cNvSpPr/>
          <p:nvPr/>
        </p:nvSpPr>
        <p:spPr>
          <a:xfrm>
            <a:off x="594360" y="3322320"/>
            <a:ext cx="3649980" cy="685800"/>
          </a:xfrm>
          <a:prstGeom prst="rect">
            <a:avLst/>
          </a:prstGeom>
          <a:solidFill>
            <a:srgbClr val="EEEE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nBeltz / text / 14"/>
          <p:cNvSpPr txBox="1"/>
          <p:nvPr/>
        </p:nvSpPr>
        <p:spPr>
          <a:xfrm>
            <a:off x="777240" y="3505200"/>
            <a:ext cx="3276600" cy="33832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84"/>
              </a:lnSpc>
              <a:spcAft>
                <a:spcPts val="0"/>
              </a:spcAft>
              <a:defRPr sz="1680">
                <a:solidFill>
                  <a:srgbClr val="252826"/>
                </a:solidFill>
                <a:latin typeface="IBM Plex Sans"/>
              </a:defRPr>
            </a:pPr>
            <a:r>
              <a:t>[Calidad]</a:t>
            </a:r>
          </a:p>
        </p:txBody>
      </p:sp>
      <p:sp>
        <p:nvSpPr>
          <p:cNvPr id="16" name="TenBeltz / rect / 15"/>
          <p:cNvSpPr/>
          <p:nvPr/>
        </p:nvSpPr>
        <p:spPr>
          <a:xfrm>
            <a:off x="4259580" y="3322320"/>
            <a:ext cx="3649980" cy="685800"/>
          </a:xfrm>
          <a:prstGeom prst="rect">
            <a:avLst/>
          </a:prstGeom>
          <a:solidFill>
            <a:srgbClr val="EEEE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nBeltz / text / 16"/>
          <p:cNvSpPr txBox="1"/>
          <p:nvPr/>
        </p:nvSpPr>
        <p:spPr>
          <a:xfrm>
            <a:off x="4442460" y="3505200"/>
            <a:ext cx="3276600" cy="33832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84"/>
              </a:lnSpc>
              <a:spcAft>
                <a:spcPts val="0"/>
              </a:spcAft>
              <a:defRPr sz="1680">
                <a:solidFill>
                  <a:srgbClr val="252826"/>
                </a:solidFill>
                <a:latin typeface="IBM Plex Sans"/>
              </a:defRPr>
            </a:pPr>
            <a:r>
              <a:t>[Dato]</a:t>
            </a:r>
          </a:p>
        </p:txBody>
      </p:sp>
      <p:sp>
        <p:nvSpPr>
          <p:cNvPr id="18" name="TenBeltz / rect / 17"/>
          <p:cNvSpPr/>
          <p:nvPr/>
        </p:nvSpPr>
        <p:spPr>
          <a:xfrm>
            <a:off x="7924799" y="3322320"/>
            <a:ext cx="3649980" cy="685800"/>
          </a:xfrm>
          <a:prstGeom prst="rect">
            <a:avLst/>
          </a:prstGeom>
          <a:solidFill>
            <a:srgbClr val="EEEE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nBeltz / text / 18"/>
          <p:cNvSpPr txBox="1"/>
          <p:nvPr/>
        </p:nvSpPr>
        <p:spPr>
          <a:xfrm>
            <a:off x="8107680" y="3505200"/>
            <a:ext cx="3276600" cy="33832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84"/>
              </a:lnSpc>
              <a:spcAft>
                <a:spcPts val="0"/>
              </a:spcAft>
              <a:defRPr sz="1680">
                <a:solidFill>
                  <a:srgbClr val="252826"/>
                </a:solidFill>
                <a:latin typeface="IBM Plex Sans"/>
              </a:defRPr>
            </a:pPr>
            <a:r>
              <a:t>[Dato]</a:t>
            </a:r>
          </a:p>
        </p:txBody>
      </p:sp>
      <p:sp>
        <p:nvSpPr>
          <p:cNvPr id="20" name="TenBeltz / rect / 19"/>
          <p:cNvSpPr/>
          <p:nvPr/>
        </p:nvSpPr>
        <p:spPr>
          <a:xfrm>
            <a:off x="594360" y="4046220"/>
            <a:ext cx="3649980" cy="685800"/>
          </a:xfrm>
          <a:prstGeom prst="rect">
            <a:avLst/>
          </a:prstGeom>
          <a:solidFill>
            <a:srgbClr val="EEEE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nBeltz / text / 20"/>
          <p:cNvSpPr txBox="1"/>
          <p:nvPr/>
        </p:nvSpPr>
        <p:spPr>
          <a:xfrm>
            <a:off x="777240" y="4229100"/>
            <a:ext cx="3276600" cy="33832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84"/>
              </a:lnSpc>
              <a:spcAft>
                <a:spcPts val="0"/>
              </a:spcAft>
              <a:defRPr sz="1680">
                <a:solidFill>
                  <a:srgbClr val="252826"/>
                </a:solidFill>
                <a:latin typeface="IBM Plex Sans"/>
              </a:defRPr>
            </a:pPr>
            <a:r>
              <a:t>[Latencia]</a:t>
            </a:r>
          </a:p>
        </p:txBody>
      </p:sp>
      <p:sp>
        <p:nvSpPr>
          <p:cNvPr id="22" name="TenBeltz / rect / 21"/>
          <p:cNvSpPr/>
          <p:nvPr/>
        </p:nvSpPr>
        <p:spPr>
          <a:xfrm>
            <a:off x="4259580" y="4046220"/>
            <a:ext cx="3649980" cy="685800"/>
          </a:xfrm>
          <a:prstGeom prst="rect">
            <a:avLst/>
          </a:prstGeom>
          <a:solidFill>
            <a:srgbClr val="EEEE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nBeltz / text / 22"/>
          <p:cNvSpPr txBox="1"/>
          <p:nvPr/>
        </p:nvSpPr>
        <p:spPr>
          <a:xfrm>
            <a:off x="4442460" y="4229100"/>
            <a:ext cx="3276600" cy="33832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84"/>
              </a:lnSpc>
              <a:spcAft>
                <a:spcPts val="0"/>
              </a:spcAft>
              <a:defRPr sz="1680">
                <a:solidFill>
                  <a:srgbClr val="252826"/>
                </a:solidFill>
                <a:latin typeface="IBM Plex Sans"/>
              </a:defRPr>
            </a:pPr>
            <a:r>
              <a:t>[Dato]</a:t>
            </a:r>
          </a:p>
        </p:txBody>
      </p:sp>
      <p:sp>
        <p:nvSpPr>
          <p:cNvPr id="24" name="TenBeltz / rect / 23"/>
          <p:cNvSpPr/>
          <p:nvPr/>
        </p:nvSpPr>
        <p:spPr>
          <a:xfrm>
            <a:off x="7924799" y="4046220"/>
            <a:ext cx="3649980" cy="685800"/>
          </a:xfrm>
          <a:prstGeom prst="rect">
            <a:avLst/>
          </a:prstGeom>
          <a:solidFill>
            <a:srgbClr val="EEEE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nBeltz / text / 24"/>
          <p:cNvSpPr txBox="1"/>
          <p:nvPr/>
        </p:nvSpPr>
        <p:spPr>
          <a:xfrm>
            <a:off x="8107680" y="4229100"/>
            <a:ext cx="3276600" cy="33832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84"/>
              </a:lnSpc>
              <a:spcAft>
                <a:spcPts val="0"/>
              </a:spcAft>
              <a:defRPr sz="1680">
                <a:solidFill>
                  <a:srgbClr val="252826"/>
                </a:solidFill>
                <a:latin typeface="IBM Plex Sans"/>
              </a:defRPr>
            </a:pPr>
            <a:r>
              <a:t>[Dato]</a:t>
            </a:r>
          </a:p>
        </p:txBody>
      </p:sp>
      <p:sp>
        <p:nvSpPr>
          <p:cNvPr id="26" name="TenBeltz / rect / 25"/>
          <p:cNvSpPr/>
          <p:nvPr/>
        </p:nvSpPr>
        <p:spPr>
          <a:xfrm>
            <a:off x="594360" y="4770120"/>
            <a:ext cx="3649980" cy="685800"/>
          </a:xfrm>
          <a:prstGeom prst="rect">
            <a:avLst/>
          </a:prstGeom>
          <a:solidFill>
            <a:srgbClr val="EEEE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nBeltz / text / 26"/>
          <p:cNvSpPr txBox="1"/>
          <p:nvPr/>
        </p:nvSpPr>
        <p:spPr>
          <a:xfrm>
            <a:off x="777240" y="4953000"/>
            <a:ext cx="3276600" cy="33832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84"/>
              </a:lnSpc>
              <a:spcAft>
                <a:spcPts val="0"/>
              </a:spcAft>
              <a:defRPr sz="1680">
                <a:solidFill>
                  <a:srgbClr val="252826"/>
                </a:solidFill>
                <a:latin typeface="IBM Plex Sans"/>
              </a:defRPr>
            </a:pPr>
            <a:r>
              <a:t>[Coste]</a:t>
            </a:r>
          </a:p>
        </p:txBody>
      </p:sp>
      <p:sp>
        <p:nvSpPr>
          <p:cNvPr id="28" name="TenBeltz / rect / 27"/>
          <p:cNvSpPr/>
          <p:nvPr/>
        </p:nvSpPr>
        <p:spPr>
          <a:xfrm>
            <a:off x="4259580" y="4770120"/>
            <a:ext cx="3649980" cy="685800"/>
          </a:xfrm>
          <a:prstGeom prst="rect">
            <a:avLst/>
          </a:prstGeom>
          <a:solidFill>
            <a:srgbClr val="EEEE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nBeltz / text / 28"/>
          <p:cNvSpPr txBox="1"/>
          <p:nvPr/>
        </p:nvSpPr>
        <p:spPr>
          <a:xfrm>
            <a:off x="4442460" y="4953000"/>
            <a:ext cx="3276600" cy="33832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84"/>
              </a:lnSpc>
              <a:spcAft>
                <a:spcPts val="0"/>
              </a:spcAft>
              <a:defRPr sz="1680">
                <a:solidFill>
                  <a:srgbClr val="252826"/>
                </a:solidFill>
                <a:latin typeface="IBM Plex Sans"/>
              </a:defRPr>
            </a:pPr>
            <a:r>
              <a:t>[Dato]</a:t>
            </a:r>
          </a:p>
        </p:txBody>
      </p:sp>
      <p:sp>
        <p:nvSpPr>
          <p:cNvPr id="30" name="TenBeltz / rect / 29"/>
          <p:cNvSpPr/>
          <p:nvPr/>
        </p:nvSpPr>
        <p:spPr>
          <a:xfrm>
            <a:off x="7924799" y="4770120"/>
            <a:ext cx="3649980" cy="685800"/>
          </a:xfrm>
          <a:prstGeom prst="rect">
            <a:avLst/>
          </a:prstGeom>
          <a:solidFill>
            <a:srgbClr val="EEEE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nBeltz / text / 30"/>
          <p:cNvSpPr txBox="1"/>
          <p:nvPr/>
        </p:nvSpPr>
        <p:spPr>
          <a:xfrm>
            <a:off x="8107680" y="4953000"/>
            <a:ext cx="3276600" cy="33832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84"/>
              </a:lnSpc>
              <a:spcAft>
                <a:spcPts val="0"/>
              </a:spcAft>
              <a:defRPr sz="1680">
                <a:solidFill>
                  <a:srgbClr val="252826"/>
                </a:solidFill>
                <a:latin typeface="IBM Plex Sans"/>
              </a:defRPr>
            </a:pPr>
            <a:r>
              <a:t>[Dato]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TenBeltz / image / 01" descr="tenbeltz-horizontal-col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426720"/>
            <a:ext cx="1790700" cy="392482"/>
          </a:xfrm>
          <a:prstGeom prst="rect">
            <a:avLst/>
          </a:prstGeom>
        </p:spPr>
      </p:pic>
      <p:sp>
        <p:nvSpPr>
          <p:cNvPr id="3" name="TenBeltz / text / 02"/>
          <p:cNvSpPr txBox="1"/>
          <p:nvPr/>
        </p:nvSpPr>
        <p:spPr>
          <a:xfrm>
            <a:off x="9829800" y="510540"/>
            <a:ext cx="1790700" cy="2392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04"/>
              </a:lnSpc>
              <a:spcAft>
                <a:spcPts val="0"/>
              </a:spcAft>
              <a:defRPr sz="1080">
                <a:solidFill>
                  <a:srgbClr val="676B65"/>
                </a:solidFill>
                <a:latin typeface="IBM Plex Sans"/>
              </a:defRPr>
            </a:pPr>
            <a:r>
              <a:t>tenbeltz.com</a:t>
            </a:r>
          </a:p>
        </p:txBody>
      </p:sp>
      <p:cxnSp>
        <p:nvCxnSpPr>
          <p:cNvPr id="4" name="TenBeltz / line / 03"/>
          <p:cNvCxnSpPr/>
          <p:nvPr/>
        </p:nvCxnSpPr>
        <p:spPr>
          <a:xfrm>
            <a:off x="594360" y="6225540"/>
            <a:ext cx="11003280" cy="0"/>
          </a:xfrm>
          <a:prstGeom prst="line">
            <a:avLst/>
          </a:prstGeom>
          <a:ln w="7620">
            <a:solidFill>
              <a:srgbClr val="D9DC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nBeltz / text / 04"/>
          <p:cNvSpPr txBox="1"/>
          <p:nvPr/>
        </p:nvSpPr>
        <p:spPr>
          <a:xfrm>
            <a:off x="594360" y="6416040"/>
            <a:ext cx="7239000" cy="2095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170"/>
              </a:lnSpc>
              <a:spcAft>
                <a:spcPts val="0"/>
              </a:spcAft>
              <a:defRPr sz="900">
                <a:solidFill>
                  <a:srgbClr val="676B65"/>
                </a:solidFill>
                <a:latin typeface="IBM Plex Sans"/>
              </a:defRPr>
            </a:pPr>
            <a:r>
              <a:t>TENBELTZ / BRAND SYSTEM 2026.10</a:t>
            </a:r>
          </a:p>
        </p:txBody>
      </p:sp>
      <p:sp>
        <p:nvSpPr>
          <p:cNvPr id="6" name="TenBeltz / text / 05"/>
          <p:cNvSpPr txBox="1"/>
          <p:nvPr/>
        </p:nvSpPr>
        <p:spPr>
          <a:xfrm>
            <a:off x="10820400" y="6416040"/>
            <a:ext cx="723900" cy="2095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170"/>
              </a:lnSpc>
              <a:spcAft>
                <a:spcPts val="0"/>
              </a:spcAft>
              <a:defRPr sz="900">
                <a:solidFill>
                  <a:srgbClr val="676B65"/>
                </a:solidFill>
                <a:latin typeface="IBM Plex Sans"/>
              </a:defRPr>
            </a:pPr>
            <a:r>
              <a:t>08 / 10</a:t>
            </a:r>
          </a:p>
        </p:txBody>
      </p:sp>
      <p:sp>
        <p:nvSpPr>
          <p:cNvPr id="7" name="TenBeltz / text / 06"/>
          <p:cNvSpPr txBox="1"/>
          <p:nvPr/>
        </p:nvSpPr>
        <p:spPr>
          <a:xfrm>
            <a:off x="594360" y="1447800"/>
            <a:ext cx="10668000" cy="60579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4290"/>
              </a:lnSpc>
              <a:spcAft>
                <a:spcPts val="0"/>
              </a:spcAft>
              <a:defRPr sz="3300">
                <a:solidFill>
                  <a:srgbClr val="252826"/>
                </a:solidFill>
                <a:latin typeface="IBM Plex Sans Medm"/>
              </a:defRPr>
            </a:pPr>
            <a:r>
              <a:t>[Resultado de evaluación]</a:t>
            </a:r>
          </a:p>
        </p:txBody>
      </p:sp>
      <p:sp>
        <p:nvSpPr>
          <p:cNvPr id="8" name="TenBeltz / text / 07"/>
          <p:cNvSpPr txBox="1"/>
          <p:nvPr/>
        </p:nvSpPr>
        <p:spPr>
          <a:xfrm>
            <a:off x="594360" y="2667000"/>
            <a:ext cx="7239000" cy="16062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168"/>
              </a:lnSpc>
              <a:spcAft>
                <a:spcPts val="0"/>
              </a:spcAft>
              <a:defRPr sz="9360">
                <a:solidFill>
                  <a:srgbClr val="583346"/>
                </a:solidFill>
                <a:latin typeface="IBM Plex Sans Medm"/>
              </a:defRPr>
            </a:pPr>
            <a:r>
              <a:t>[Valor]</a:t>
            </a:r>
          </a:p>
        </p:txBody>
      </p:sp>
      <p:sp>
        <p:nvSpPr>
          <p:cNvPr id="9" name="TenBeltz / text / 08"/>
          <p:cNvSpPr txBox="1"/>
          <p:nvPr/>
        </p:nvSpPr>
        <p:spPr>
          <a:xfrm>
            <a:off x="594360" y="4724400"/>
            <a:ext cx="9448800" cy="34823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261"/>
              </a:lnSpc>
              <a:spcAft>
                <a:spcPts val="0"/>
              </a:spcAft>
              <a:defRPr sz="1739">
                <a:solidFill>
                  <a:srgbClr val="676B65"/>
                </a:solidFill>
                <a:latin typeface="IBM Plex Sans"/>
              </a:defRPr>
            </a:pPr>
            <a:r>
              <a:t>[Métrica / muestra / método / fecha / alcance]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TenBeltz / image / 01" descr="tenbeltz-horizontal-col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426720"/>
            <a:ext cx="1790700" cy="392482"/>
          </a:xfrm>
          <a:prstGeom prst="rect">
            <a:avLst/>
          </a:prstGeom>
        </p:spPr>
      </p:pic>
      <p:sp>
        <p:nvSpPr>
          <p:cNvPr id="3" name="TenBeltz / text / 02"/>
          <p:cNvSpPr txBox="1"/>
          <p:nvPr/>
        </p:nvSpPr>
        <p:spPr>
          <a:xfrm>
            <a:off x="9829800" y="510540"/>
            <a:ext cx="1790700" cy="2392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04"/>
              </a:lnSpc>
              <a:spcAft>
                <a:spcPts val="0"/>
              </a:spcAft>
              <a:defRPr sz="1080">
                <a:solidFill>
                  <a:srgbClr val="676B65"/>
                </a:solidFill>
                <a:latin typeface="IBM Plex Sans"/>
              </a:defRPr>
            </a:pPr>
            <a:r>
              <a:t>tenbeltz.com</a:t>
            </a:r>
          </a:p>
        </p:txBody>
      </p:sp>
      <p:cxnSp>
        <p:nvCxnSpPr>
          <p:cNvPr id="4" name="TenBeltz / line / 03"/>
          <p:cNvCxnSpPr/>
          <p:nvPr/>
        </p:nvCxnSpPr>
        <p:spPr>
          <a:xfrm>
            <a:off x="594360" y="6225540"/>
            <a:ext cx="11003280" cy="0"/>
          </a:xfrm>
          <a:prstGeom prst="line">
            <a:avLst/>
          </a:prstGeom>
          <a:ln w="7620">
            <a:solidFill>
              <a:srgbClr val="D9DC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nBeltz / text / 04"/>
          <p:cNvSpPr txBox="1"/>
          <p:nvPr/>
        </p:nvSpPr>
        <p:spPr>
          <a:xfrm>
            <a:off x="594360" y="6416040"/>
            <a:ext cx="7239000" cy="2095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170"/>
              </a:lnSpc>
              <a:spcAft>
                <a:spcPts val="0"/>
              </a:spcAft>
              <a:defRPr sz="900">
                <a:solidFill>
                  <a:srgbClr val="676B65"/>
                </a:solidFill>
                <a:latin typeface="IBM Plex Sans"/>
              </a:defRPr>
            </a:pPr>
            <a:r>
              <a:t>TENBELTZ / BRAND SYSTEM 2026.10</a:t>
            </a:r>
          </a:p>
        </p:txBody>
      </p:sp>
      <p:sp>
        <p:nvSpPr>
          <p:cNvPr id="6" name="TenBeltz / text / 05"/>
          <p:cNvSpPr txBox="1"/>
          <p:nvPr/>
        </p:nvSpPr>
        <p:spPr>
          <a:xfrm>
            <a:off x="10820400" y="6416040"/>
            <a:ext cx="723900" cy="2095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170"/>
              </a:lnSpc>
              <a:spcAft>
                <a:spcPts val="0"/>
              </a:spcAft>
              <a:defRPr sz="900">
                <a:solidFill>
                  <a:srgbClr val="676B65"/>
                </a:solidFill>
                <a:latin typeface="IBM Plex Sans"/>
              </a:defRPr>
            </a:pPr>
            <a:r>
              <a:t>09 / 10</a:t>
            </a:r>
          </a:p>
        </p:txBody>
      </p:sp>
      <p:sp>
        <p:nvSpPr>
          <p:cNvPr id="7" name="TenBeltz / text / 06"/>
          <p:cNvSpPr txBox="1"/>
          <p:nvPr/>
        </p:nvSpPr>
        <p:spPr>
          <a:xfrm>
            <a:off x="594360" y="1371600"/>
            <a:ext cx="10896600" cy="60579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4290"/>
              </a:lnSpc>
              <a:spcAft>
                <a:spcPts val="0"/>
              </a:spcAft>
              <a:defRPr sz="3300">
                <a:solidFill>
                  <a:srgbClr val="252826"/>
                </a:solidFill>
                <a:latin typeface="IBM Plex Sans Medm"/>
              </a:defRPr>
            </a:pPr>
            <a:r>
              <a:t>[Captura o diagrama autorizado]</a:t>
            </a:r>
          </a:p>
        </p:txBody>
      </p:sp>
      <p:sp>
        <p:nvSpPr>
          <p:cNvPr id="8" name="TenBeltz / rect / 07"/>
          <p:cNvSpPr/>
          <p:nvPr/>
        </p:nvSpPr>
        <p:spPr>
          <a:xfrm>
            <a:off x="594360" y="2377440"/>
            <a:ext cx="11003280" cy="3086100"/>
          </a:xfrm>
          <a:prstGeom prst="rect">
            <a:avLst/>
          </a:prstGeom>
          <a:solidFill>
            <a:srgbClr val="EEEE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nBeltz / text / 08"/>
          <p:cNvSpPr txBox="1"/>
          <p:nvPr/>
        </p:nvSpPr>
        <p:spPr>
          <a:xfrm>
            <a:off x="899160" y="3048000"/>
            <a:ext cx="9448800" cy="7543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730"/>
              </a:lnSpc>
              <a:spcAft>
                <a:spcPts val="0"/>
              </a:spcAft>
              <a:defRPr sz="2100">
                <a:solidFill>
                  <a:srgbClr val="676B65"/>
                </a:solidFill>
                <a:latin typeface="IBM Plex Sans"/>
              </a:defRPr>
            </a:pPr>
            <a:r>
              <a:t>[Reemplazar el recurso decorativo por la imagen del proyecto y describir su</a:t>
            </a:r>
          </a:p>
          <a:p>
            <a:pPr>
              <a:lnSpc>
                <a:spcPts val="2730"/>
              </a:lnSpc>
              <a:spcAft>
                <a:spcPts val="0"/>
              </a:spcAft>
              <a:defRPr sz="2100">
                <a:solidFill>
                  <a:srgbClr val="676B65"/>
                </a:solidFill>
                <a:latin typeface="IBM Plex Sans"/>
              </a:defRPr>
            </a:pPr>
            <a:r>
              <a:t>procedencia.]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52826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TenBeltz / image / 01" descr="tenbeltz-horizontal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426720"/>
            <a:ext cx="1790700" cy="392482"/>
          </a:xfrm>
          <a:prstGeom prst="rect">
            <a:avLst/>
          </a:prstGeom>
        </p:spPr>
      </p:pic>
      <p:sp>
        <p:nvSpPr>
          <p:cNvPr id="3" name="TenBeltz / text / 02"/>
          <p:cNvSpPr txBox="1"/>
          <p:nvPr/>
        </p:nvSpPr>
        <p:spPr>
          <a:xfrm>
            <a:off x="9829800" y="510540"/>
            <a:ext cx="1790700" cy="2392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04"/>
              </a:lnSpc>
              <a:spcAft>
                <a:spcPts val="0"/>
              </a:spcAft>
              <a:defRPr sz="1080">
                <a:solidFill>
                  <a:srgbClr val="D9C4CE"/>
                </a:solidFill>
                <a:latin typeface="IBM Plex Sans"/>
              </a:defRPr>
            </a:pPr>
            <a:r>
              <a:t>tenbeltz.com</a:t>
            </a:r>
          </a:p>
        </p:txBody>
      </p:sp>
      <p:cxnSp>
        <p:nvCxnSpPr>
          <p:cNvPr id="4" name="TenBeltz / line / 03"/>
          <p:cNvCxnSpPr/>
          <p:nvPr/>
        </p:nvCxnSpPr>
        <p:spPr>
          <a:xfrm>
            <a:off x="594360" y="6225540"/>
            <a:ext cx="11003280" cy="0"/>
          </a:xfrm>
          <a:prstGeom prst="line">
            <a:avLst/>
          </a:prstGeom>
          <a:ln w="7620">
            <a:solidFill>
              <a:srgbClr val="676B6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nBeltz / text / 04"/>
          <p:cNvSpPr txBox="1"/>
          <p:nvPr/>
        </p:nvSpPr>
        <p:spPr>
          <a:xfrm>
            <a:off x="594360" y="6416040"/>
            <a:ext cx="7239000" cy="2095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170"/>
              </a:lnSpc>
              <a:spcAft>
                <a:spcPts val="0"/>
              </a:spcAft>
              <a:defRPr sz="900">
                <a:solidFill>
                  <a:srgbClr val="D9C4CE"/>
                </a:solidFill>
                <a:latin typeface="IBM Plex Sans"/>
              </a:defRPr>
            </a:pPr>
            <a:r>
              <a:t>TENBELTZ / BRAND SYSTEM 2026.10</a:t>
            </a:r>
          </a:p>
        </p:txBody>
      </p:sp>
      <p:sp>
        <p:nvSpPr>
          <p:cNvPr id="6" name="TenBeltz / text / 05"/>
          <p:cNvSpPr txBox="1"/>
          <p:nvPr/>
        </p:nvSpPr>
        <p:spPr>
          <a:xfrm>
            <a:off x="10820400" y="6416040"/>
            <a:ext cx="723900" cy="2095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170"/>
              </a:lnSpc>
              <a:spcAft>
                <a:spcPts val="0"/>
              </a:spcAft>
              <a:defRPr sz="900">
                <a:solidFill>
                  <a:srgbClr val="D9C4CE"/>
                </a:solidFill>
                <a:latin typeface="IBM Plex Sans"/>
              </a:defRPr>
            </a:pPr>
            <a:r>
              <a:t>10 / 10</a:t>
            </a:r>
          </a:p>
        </p:txBody>
      </p:sp>
      <p:pic>
        <p:nvPicPr>
          <p:cNvPr id="7" name="TenBeltz / image / 06" descr="tenbeltz-motif-line-petals-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15300" y="2019300"/>
            <a:ext cx="3238500" cy="3238500"/>
          </a:xfrm>
          <a:prstGeom prst="rect">
            <a:avLst/>
          </a:prstGeom>
        </p:spPr>
      </p:pic>
      <p:sp>
        <p:nvSpPr>
          <p:cNvPr id="8" name="TenBeltz / text / 07"/>
          <p:cNvSpPr txBox="1"/>
          <p:nvPr/>
        </p:nvSpPr>
        <p:spPr>
          <a:xfrm>
            <a:off x="594360" y="1821180"/>
            <a:ext cx="8458200" cy="71475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5148"/>
              </a:lnSpc>
              <a:spcAft>
                <a:spcPts val="0"/>
              </a:spcAft>
              <a:defRPr sz="4680">
                <a:solidFill>
                  <a:srgbClr val="FFFFFF"/>
                </a:solidFill>
                <a:latin typeface="IBM Plex Sans Medm"/>
              </a:defRPr>
            </a:pPr>
            <a:r>
              <a:t>[Siguiente paso]</a:t>
            </a:r>
          </a:p>
        </p:txBody>
      </p:sp>
      <p:cxnSp>
        <p:nvCxnSpPr>
          <p:cNvPr id="9" name="TenBeltz / line / 08"/>
          <p:cNvCxnSpPr/>
          <p:nvPr/>
        </p:nvCxnSpPr>
        <p:spPr>
          <a:xfrm>
            <a:off x="594360" y="4061460"/>
            <a:ext cx="6492240" cy="0"/>
          </a:xfrm>
          <a:prstGeom prst="line">
            <a:avLst/>
          </a:prstGeom>
          <a:ln w="7620">
            <a:solidFill>
              <a:srgbClr val="676B6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nBeltz / text / 09"/>
          <p:cNvSpPr txBox="1"/>
          <p:nvPr/>
        </p:nvSpPr>
        <p:spPr>
          <a:xfrm>
            <a:off x="594360" y="4465320"/>
            <a:ext cx="7315200" cy="41757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808"/>
              </a:lnSpc>
              <a:spcAft>
                <a:spcPts val="0"/>
              </a:spcAft>
              <a:defRPr sz="2160">
                <a:solidFill>
                  <a:srgbClr val="D9C4CE"/>
                </a:solidFill>
                <a:latin typeface="IBM Plex Sans"/>
              </a:defRPr>
            </a:pPr>
            <a:r>
              <a:t>[Acción / responsable / contacto]</a:t>
            </a:r>
          </a:p>
        </p:txBody>
      </p:sp>
    </p:spTree>
  </p:cSld>
  <p:clrMapOvr>
    <a:masterClrMapping/>
  </p:clrMapOvr>
</p:sld>
</file>

<file path=ppt/theme/theme1.xml><?xml version="1.0" encoding="utf-8"?>
<ns0:theme xmlns:ns0="http://schemas.openxmlformats.org/drawingml/2006/main" name="Office Theme">
  <ns0:themeElements>
    <ns0:clrScheme name="Office">
      <ns0:dk1>
        <ns0:sysClr val="windowText" lastClr="000000"/>
      </ns0:dk1>
      <ns0:lt1>
        <ns0:sysClr val="window" lastClr="FFFFFF"/>
      </ns0:lt1>
      <ns0:dk2>
        <ns0:srgbClr val="1F497D"/>
      </ns0:dk2>
      <ns0:lt2>
        <ns0:srgbClr val="EEECE1"/>
      </ns0:lt2>
      <ns0:accent1>
        <ns0:srgbClr val="4F81BD"/>
      </ns0:accent1>
      <ns0:accent2>
        <ns0:srgbClr val="C0504D"/>
      </ns0:accent2>
      <ns0:accent3>
        <ns0:srgbClr val="9BBB59"/>
      </ns0:accent3>
      <ns0:accent4>
        <ns0:srgbClr val="8064A2"/>
      </ns0:accent4>
      <ns0:accent5>
        <ns0:srgbClr val="4BACC6"/>
      </ns0:accent5>
      <ns0:accent6>
        <ns0:srgbClr val="F79646"/>
      </ns0:accent6>
      <ns0:hlink>
        <ns0:srgbClr val="0000FF"/>
      </ns0:hlink>
      <ns0:folHlink>
        <ns0:srgbClr val="800080"/>
      </ns0:folHlink>
    </ns0:clrScheme>
    <ns0:fontScheme name="Office">
      <ns0:majorFont>
        <ns0:latin typeface="IBM Plex Sans"/>
        <ns0:ea typeface=""/>
        <ns0:cs typeface=""/>
        <ns0:font script="Jpan" typeface="ＭＳ Ｐゴシック"/>
        <ns0:font script="Hang" typeface="맑은 고딕"/>
        <ns0:font script="Hans" typeface="宋体"/>
        <ns0:font script="Hant" typeface="新細明體"/>
        <ns0:font script="Arab" typeface="Times New Roman"/>
        <ns0:font script="Hebr" typeface="Times New Roman"/>
        <ns0:font script="Thai" typeface="Angsana New"/>
        <ns0:font script="Ethi" typeface="Nyala"/>
        <ns0:font script="Beng" typeface="Vrinda"/>
        <ns0:font script="Gujr" typeface="Shruti"/>
        <ns0:font script="Khmr" typeface="MoolBoran"/>
        <ns0:font script="Knda" typeface="Tunga"/>
        <ns0:font script="Guru" typeface="Raavi"/>
        <ns0:font script="Cans" typeface="Euphemia"/>
        <ns0:font script="Cher" typeface="Plantagenet Cherokee"/>
        <ns0:font script="Yiii" typeface="Microsoft Yi Baiti"/>
        <ns0:font script="Tibt" typeface="Microsoft Himalaya"/>
        <ns0:font script="Thaa" typeface="MV Boli"/>
        <ns0:font script="Deva" typeface="Mangal"/>
        <ns0:font script="Telu" typeface="Gautami"/>
        <ns0:font script="Taml" typeface="Latha"/>
        <ns0:font script="Syrc" typeface="Estrangelo Edessa"/>
        <ns0:font script="Orya" typeface="Kalinga"/>
        <ns0:font script="Mlym" typeface="Kartika"/>
        <ns0:font script="Laoo" typeface="DokChampa"/>
        <ns0:font script="Sinh" typeface="Iskoola Pota"/>
        <ns0:font script="Mong" typeface="Mongolian Baiti"/>
        <ns0:font script="Viet" typeface="Times New Roman"/>
        <ns0:font script="Uigh" typeface="Microsoft Uighur"/>
        <ns0:font script="Geor" typeface="Sylfaen"/>
      </ns0:majorFont>
      <ns0:minorFont>
        <ns0:latin typeface="IBM Plex Sans"/>
        <ns0:ea typeface=""/>
        <ns0:cs typeface=""/>
        <ns0:font script="Jpan" typeface="ＭＳ Ｐゴシック"/>
        <ns0:font script="Hang" typeface="맑은 고딕"/>
        <ns0:font script="Hans" typeface="宋体"/>
        <ns0:font script="Hant" typeface="新細明體"/>
        <ns0:font script="Arab" typeface="Arial"/>
        <ns0:font script="Hebr" typeface="Arial"/>
        <ns0:font script="Thai" typeface="Cordia New"/>
        <ns0:font script="Ethi" typeface="Nyala"/>
        <ns0:font script="Beng" typeface="Vrinda"/>
        <ns0:font script="Gujr" typeface="Shruti"/>
        <ns0:font script="Khmr" typeface="DaunPenh"/>
        <ns0:font script="Knda" typeface="Tunga"/>
        <ns0:font script="Guru" typeface="Raavi"/>
        <ns0:font script="Cans" typeface="Euphemia"/>
        <ns0:font script="Cher" typeface="Plantagenet Cherokee"/>
        <ns0:font script="Yiii" typeface="Microsoft Yi Baiti"/>
        <ns0:font script="Tibt" typeface="Microsoft Himalaya"/>
        <ns0:font script="Thaa" typeface="MV Boli"/>
        <ns0:font script="Deva" typeface="Mangal"/>
        <ns0:font script="Telu" typeface="Gautami"/>
        <ns0:font script="Taml" typeface="Latha"/>
        <ns0:font script="Syrc" typeface="Estrangelo Edessa"/>
        <ns0:font script="Orya" typeface="Kalinga"/>
        <ns0:font script="Mlym" typeface="Kartika"/>
        <ns0:font script="Laoo" typeface="DokChampa"/>
        <ns0:font script="Sinh" typeface="Iskoola Pota"/>
        <ns0:font script="Mong" typeface="Mongolian Baiti"/>
        <ns0:font script="Viet" typeface="Arial"/>
        <ns0:font script="Uigh" typeface="Microsoft Uighur"/>
        <ns0:font script="Geor" typeface="Sylfaen"/>
      </ns0:minorFont>
    </ns0:fontScheme>
    <ns0:fmtScheme name="Office">
      <ns0:fillStyleLst>
        <ns0:solidFill>
          <ns0:schemeClr val="phClr"/>
        </ns0:solidFill>
        <ns0:gradFill rotWithShape="1">
          <ns0:gsLst>
            <ns0:gs pos="0">
              <ns0:schemeClr val="phClr">
                <ns0:tint val="50000"/>
                <ns0:satMod val="300000"/>
              </ns0:schemeClr>
            </ns0:gs>
            <ns0:gs pos="35000">
              <ns0:schemeClr val="phClr">
                <ns0:tint val="37000"/>
                <ns0:satMod val="300000"/>
              </ns0:schemeClr>
            </ns0:gs>
            <ns0:gs pos="100000">
              <ns0:schemeClr val="phClr">
                <ns0:tint val="15000"/>
                <ns0:satMod val="350000"/>
              </ns0:schemeClr>
            </ns0:gs>
          </ns0:gsLst>
          <ns0:lin ang="16200000" scaled="1"/>
        </ns0:gradFill>
        <ns0:gradFill rotWithShape="1">
          <ns0:gsLst>
            <ns0:gs pos="0">
              <ns0:schemeClr val="phClr">
                <ns0:tint val="100000"/>
                <ns0:shade val="100000"/>
                <ns0:satMod val="130000"/>
              </ns0:schemeClr>
            </ns0:gs>
            <ns0:gs pos="100000">
              <ns0:schemeClr val="phClr">
                <ns0:tint val="50000"/>
                <ns0:shade val="100000"/>
                <ns0:satMod val="350000"/>
              </ns0:schemeClr>
            </ns0:gs>
          </ns0:gsLst>
          <ns0:lin ang="16200000" scaled="0"/>
        </ns0:gradFill>
      </ns0:fillStyleLst>
      <ns0:lnStyleLst>
        <ns0:ln w="9525" cap="flat" cmpd="sng" algn="ctr">
          <ns0:solidFill>
            <ns0:schemeClr val="phClr">
              <ns0:shade val="95000"/>
              <ns0:satMod val="105000"/>
            </ns0:schemeClr>
          </ns0:solidFill>
          <ns0:prstDash val="solid"/>
        </ns0:ln>
        <ns0:ln w="25400" cap="flat" cmpd="sng" algn="ctr">
          <ns0:solidFill>
            <ns0:schemeClr val="phClr"/>
          </ns0:solidFill>
          <ns0:prstDash val="solid"/>
        </ns0:ln>
        <ns0:ln w="38100" cap="flat" cmpd="sng" algn="ctr">
          <ns0:solidFill>
            <ns0:schemeClr val="phClr"/>
          </ns0:solidFill>
          <ns0:prstDash val="solid"/>
        </ns0:ln>
      </ns0:lnStyleLst>
      <ns0:effectStyleLst>
        <ns0:effectStyle>
          <ns0:effectLst>
            <ns0:outerShdw blurRad="40000" dist="20000" dir="5400000" rotWithShape="0">
              <ns0:srgbClr val="000000">
                <ns0:alpha val="38000"/>
              </ns0:srgbClr>
            </ns0:outerShdw>
          </ns0:effectLst>
        </ns0:effectStyle>
        <ns0:effectStyle>
          <ns0:effectLst>
            <ns0:outerShdw blurRad="40000" dist="23000" dir="5400000" rotWithShape="0">
              <ns0:srgbClr val="000000">
                <ns0:alpha val="35000"/>
              </ns0:srgbClr>
            </ns0:outerShdw>
          </ns0:effectLst>
        </ns0:effectStyle>
        <ns0:effectStyle>
          <ns0:effectLst>
            <ns0:outerShdw blurRad="40000" dist="23000" dir="5400000" rotWithShape="0">
              <ns0:srgbClr val="000000">
                <ns0:alpha val="35000"/>
              </ns0:srgbClr>
            </ns0:outerShdw>
          </ns0:effectLst>
          <ns0:scene3d>
            <ns0:camera prst="orthographicFront">
              <ns0:rot lat="0" lon="0" rev="0"/>
            </ns0:camera>
            <ns0:lightRig rig="threePt" dir="t">
              <ns0:rot lat="0" lon="0" rev="1200000"/>
            </ns0:lightRig>
          </ns0:scene3d>
          <ns0:sp3d>
            <ns0:bevelT w="63500" h="25400"/>
          </ns0:sp3d>
        </ns0:effectStyle>
      </ns0:effectStyleLst>
      <ns0:bgFillStyleLst>
        <ns0:solidFill>
          <ns0:schemeClr val="phClr"/>
        </ns0:solidFill>
        <ns0:gradFill rotWithShape="1">
          <ns0:gsLst>
            <ns0:gs pos="0">
              <ns0:schemeClr val="phClr">
                <ns0:tint val="40000"/>
                <ns0:satMod val="350000"/>
              </ns0:schemeClr>
            </ns0:gs>
            <ns0:gs pos="40000">
              <ns0:schemeClr val="phClr">
                <ns0:tint val="45000"/>
                <ns0:shade val="99000"/>
                <ns0:satMod val="350000"/>
              </ns0:schemeClr>
            </ns0:gs>
            <ns0:gs pos="100000">
              <ns0:schemeClr val="phClr">
                <ns0:shade val="20000"/>
                <ns0:satMod val="255000"/>
              </ns0:schemeClr>
            </ns0:gs>
          </ns0:gsLst>
          <ns0:path path="circle">
            <ns0:fillToRect l="50000" t="-80000" r="50000" b="180000"/>
          </ns0:path>
        </ns0:gradFill>
        <ns0:gradFill rotWithShape="1">
          <ns0:gsLst>
            <ns0:gs pos="0">
              <ns0:schemeClr val="phClr">
                <ns0:tint val="80000"/>
                <ns0:satMod val="300000"/>
              </ns0:schemeClr>
            </ns0:gs>
            <ns0:gs pos="100000">
              <ns0:schemeClr val="phClr">
                <ns0:shade val="30000"/>
                <ns0:satMod val="200000"/>
              </ns0:schemeClr>
            </ns0:gs>
          </ns0:gsLst>
          <ns0:path path="circle">
            <ns0:fillToRect l="50000" t="50000" r="50000" b="50000"/>
          </ns0:path>
        </ns0:gradFill>
      </ns0:bgFillStyleLst>
    </ns0:fmtScheme>
  </ns0:themeElements>
  <ns0:objectDefaults>
    <ns0:spDef>
      <ns0:spPr/>
      <ns0:bodyPr/>
      <ns0:lstStyle/>
      <ns0:style>
        <ns0:lnRef idx="1">
          <ns0:schemeClr val="accent1"/>
        </ns0:lnRef>
        <ns0:fillRef idx="3">
          <ns0:schemeClr val="accent1"/>
        </ns0:fillRef>
        <ns0:effectRef idx="2">
          <ns0:schemeClr val="accent1"/>
        </ns0:effectRef>
        <ns0:fontRef idx="minor">
          <ns0:schemeClr val="lt1"/>
        </ns0:fontRef>
      </ns0:style>
    </ns0:spDef>
    <ns0:lnDef>
      <ns0:spPr/>
      <ns0:bodyPr/>
      <ns0:lstStyle/>
      <ns0:style>
        <ns0:lnRef idx="2">
          <ns0:schemeClr val="accent1"/>
        </ns0:lnRef>
        <ns0:fillRef idx="0">
          <ns0:schemeClr val="accent1"/>
        </ns0:fillRef>
        <ns0:effectRef idx="1">
          <ns0:schemeClr val="accent1"/>
        </ns0:effectRef>
        <ns0:fontRef idx="minor">
          <ns0:schemeClr val="tx1"/>
        </ns0:fontRef>
      </ns0:style>
    </ns0:lnDef>
  </ns0:objectDefaults>
  <ns0:extraClrSchemeLst/>
</ns0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TenBeltz / template</dc:title>
  <dc:subject/>
  <dc:creator>TenBeltz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