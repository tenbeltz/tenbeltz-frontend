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cover.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statement.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pathways.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blueprint.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delivery.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workshop.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timeline.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evaluation.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responsibility.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evidence.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conversation.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close.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01 / 12</a:t>
            </a:r>
          </a:p>
        </p:txBody>
      </p:sp>
      <p:pic>
        <p:nvPicPr>
          <p:cNvPr id="7" name="TenBeltz / image / 06" descr="tenbeltz-flower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952500"/>
            <a:ext cx="4876800" cy="4876800"/>
          </a:xfrm>
          <a:prstGeom prst="rect">
            <a:avLst/>
          </a:prstGeom>
        </p:spPr>
      </p:pic>
      <p:sp>
        <p:nvSpPr>
          <p:cNvPr id="8" name="TenBeltz / text / 07"/>
          <p:cNvSpPr txBox="1"/>
          <p:nvPr/>
        </p:nvSpPr>
        <p:spPr>
          <a:xfrm>
            <a:off x="594360" y="1546860"/>
            <a:ext cx="53340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 Medm"/>
              </a:defRPr>
            </a:pPr>
            <a:r>
              <a:t>INGENIERÍA DE IA / AI ENGINEERING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594360" y="2240280"/>
            <a:ext cx="6096000" cy="1377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84"/>
              </a:lnSpc>
              <a:spcAft>
                <a:spcPts val="0"/>
              </a:spcAft>
              <a:defRPr sz="4800">
                <a:solidFill>
                  <a:srgbClr val="252826"/>
                </a:solidFill>
                <a:latin typeface="IBM Plex Sans Medm"/>
              </a:defRPr>
            </a:pPr>
            <a:r>
              <a:t>Proyectos de IA</a:t>
            </a:r>
          </a:p>
          <a:p>
            <a:pPr>
              <a:lnSpc>
                <a:spcPts val="5184"/>
              </a:lnSpc>
              <a:spcAft>
                <a:spcPts val="0"/>
              </a:spcAft>
              <a:defRPr sz="4800">
                <a:solidFill>
                  <a:srgbClr val="252826"/>
                </a:solidFill>
                <a:latin typeface="IBM Plex Sans Medm"/>
              </a:defRPr>
            </a:pPr>
            <a:r>
              <a:t>que florecen.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594360" y="4282440"/>
            <a:ext cx="57531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Equipo externo de ingeniería de IA para empresas de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software.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02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775460"/>
            <a:ext cx="5372100" cy="1267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2"/>
              </a:lnSpc>
              <a:spcAft>
                <a:spcPts val="0"/>
              </a:spcAft>
              <a:defRPr sz="4320">
                <a:solidFill>
                  <a:srgbClr val="252826"/>
                </a:solidFill>
                <a:latin typeface="IBM Plex Sans Medm"/>
              </a:defRPr>
            </a:pPr>
            <a:r>
              <a:t>IA integrada en tu</a:t>
            </a:r>
          </a:p>
          <a:p>
            <a:pPr>
              <a:lnSpc>
                <a:spcPts val="4752"/>
              </a:lnSpc>
              <a:spcAft>
                <a:spcPts val="0"/>
              </a:spcAft>
              <a:defRPr sz="4320">
                <a:solidFill>
                  <a:srgbClr val="252826"/>
                </a:solidFill>
                <a:latin typeface="IBM Plex Sans Medm"/>
              </a:defRPr>
            </a:pPr>
            <a:r>
              <a:t>producto.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4221480"/>
            <a:ext cx="49530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Para equipos SaaS y consultoras de software.</a:t>
            </a:r>
          </a:p>
        </p:txBody>
      </p:sp>
      <p:sp>
        <p:nvSpPr>
          <p:cNvPr id="9" name="TenBeltz / rect / 08"/>
          <p:cNvSpPr/>
          <p:nvPr/>
        </p:nvSpPr>
        <p:spPr>
          <a:xfrm>
            <a:off x="6705600" y="1455420"/>
            <a:ext cx="4892040" cy="4107179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nBeltz / text / 09"/>
          <p:cNvSpPr txBox="1"/>
          <p:nvPr/>
        </p:nvSpPr>
        <p:spPr>
          <a:xfrm>
            <a:off x="7086600" y="1813560"/>
            <a:ext cx="4114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583346"/>
                </a:solidFill>
                <a:latin typeface="IBM Plex Sans Medm"/>
              </a:defRPr>
            </a:pPr>
            <a:r>
              <a:t>Contexto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7086600" y="2202180"/>
            <a:ext cx="4038600" cy="95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Un producto existente, un equipo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técnico y una oportunidad que necesita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un alcance claro.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7086600" y="3604260"/>
            <a:ext cx="4114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583346"/>
                </a:solidFill>
                <a:latin typeface="IBM Plex Sans Medm"/>
              </a:defRPr>
            </a:pPr>
            <a:r>
              <a:t>Contribución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7086600" y="3992879"/>
            <a:ext cx="4038600" cy="95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Diseño, construcción e integración con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criterios de fiabilidad, rendimiento y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coste.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03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591800" cy="605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>
                <a:solidFill>
                  <a:srgbClr val="252826"/>
                </a:solidFill>
                <a:latin typeface="IBM Plex Sans Medm"/>
              </a:defRPr>
            </a:pPr>
            <a:r>
              <a:t>Tres formas de trabajar juntos.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01</a:t>
            </a:r>
          </a:p>
        </p:txBody>
      </p:sp>
      <p:cxnSp>
        <p:nvCxnSpPr>
          <p:cNvPr id="9" name="TenBeltz / line / 08"/>
          <p:cNvCxnSpPr/>
          <p:nvPr/>
        </p:nvCxnSpPr>
        <p:spPr>
          <a:xfrm>
            <a:off x="5943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5943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Definir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594360" y="4411980"/>
            <a:ext cx="30861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Diagnóstico, datos, arquitectura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y criterios de evaluación.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43281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02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43281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43281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Construir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4328160" y="4411980"/>
            <a:ext cx="30861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Una primera versión evaluable y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su integración en producción.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80619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03</a:t>
            </a:r>
          </a:p>
        </p:txBody>
      </p:sp>
      <p:cxnSp>
        <p:nvCxnSpPr>
          <p:cNvPr id="17" name="TenBeltz / line / 16"/>
          <p:cNvCxnSpPr/>
          <p:nvPr/>
        </p:nvCxnSpPr>
        <p:spPr>
          <a:xfrm>
            <a:off x="80619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nBeltz / text / 17"/>
          <p:cNvSpPr txBox="1"/>
          <p:nvPr/>
        </p:nvSpPr>
        <p:spPr>
          <a:xfrm>
            <a:off x="80619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Formar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8061960" y="4411980"/>
            <a:ext cx="30861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IA aplicada al contexto y a las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responsabilidades del equipo.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04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379220"/>
            <a:ext cx="11049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2"/>
              </a:lnSpc>
              <a:spcAft>
                <a:spcPts val="0"/>
              </a:spcAft>
              <a:defRPr sz="3240">
                <a:solidFill>
                  <a:srgbClr val="252826"/>
                </a:solidFill>
                <a:latin typeface="IBM Plex Sans Medm"/>
              </a:defRPr>
            </a:pPr>
            <a:r>
              <a:t>Definir una base técnica.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148840"/>
            <a:ext cx="5105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583346"/>
                </a:solidFill>
                <a:latin typeface="IBM Plex Sans Medm"/>
              </a:defRPr>
            </a:pPr>
            <a:r>
              <a:t>AI Gap Analysis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594360" y="2552700"/>
            <a:ext cx="50292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Identificar oportunidades de IA, restricciones y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prioridades para tu producto.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6309360" y="2148840"/>
            <a:ext cx="5105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583346"/>
                </a:solidFill>
                <a:latin typeface="IBM Plex Sans Medm"/>
              </a:defRPr>
            </a:pPr>
            <a:r>
              <a:t>AI Project Foundations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6309360" y="2552700"/>
            <a:ext cx="50292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Concretar arquitectura, datos, alcance y evaluación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antes de construir.</a:t>
            </a:r>
          </a:p>
        </p:txBody>
      </p:sp>
      <p:sp>
        <p:nvSpPr>
          <p:cNvPr id="12" name="TenBeltz / rect / 11"/>
          <p:cNvSpPr/>
          <p:nvPr/>
        </p:nvSpPr>
        <p:spPr>
          <a:xfrm>
            <a:off x="59436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nBeltz / text / 12"/>
          <p:cNvSpPr txBox="1"/>
          <p:nvPr/>
        </p:nvSpPr>
        <p:spPr>
          <a:xfrm>
            <a:off x="76200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Datos</a:t>
            </a:r>
          </a:p>
        </p:txBody>
      </p:sp>
      <p:cxnSp>
        <p:nvCxnSpPr>
          <p:cNvPr id="14" name="TenBeltz / line / 13"/>
          <p:cNvCxnSpPr/>
          <p:nvPr/>
        </p:nvCxnSpPr>
        <p:spPr>
          <a:xfrm>
            <a:off x="3139440" y="4632960"/>
            <a:ext cx="2133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TenBeltz / line / 14"/>
          <p:cNvCxnSpPr/>
          <p:nvPr/>
        </p:nvCxnSpPr>
        <p:spPr>
          <a:xfrm>
            <a:off x="3291840" y="45948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enBeltz / line / 15"/>
          <p:cNvCxnSpPr/>
          <p:nvPr/>
        </p:nvCxnSpPr>
        <p:spPr>
          <a:xfrm flipV="1">
            <a:off x="3291840" y="46329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nBeltz / rect / 16"/>
          <p:cNvSpPr/>
          <p:nvPr/>
        </p:nvSpPr>
        <p:spPr>
          <a:xfrm>
            <a:off x="343662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nBeltz / text / 17"/>
          <p:cNvSpPr txBox="1"/>
          <p:nvPr/>
        </p:nvSpPr>
        <p:spPr>
          <a:xfrm>
            <a:off x="360426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Recuperación</a:t>
            </a:r>
          </a:p>
        </p:txBody>
      </p:sp>
      <p:cxnSp>
        <p:nvCxnSpPr>
          <p:cNvPr id="19" name="TenBeltz / line / 18"/>
          <p:cNvCxnSpPr/>
          <p:nvPr/>
        </p:nvCxnSpPr>
        <p:spPr>
          <a:xfrm>
            <a:off x="5981700" y="4632960"/>
            <a:ext cx="2133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enBeltz / line / 19"/>
          <p:cNvCxnSpPr/>
          <p:nvPr/>
        </p:nvCxnSpPr>
        <p:spPr>
          <a:xfrm>
            <a:off x="6134100" y="45948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enBeltz / line / 20"/>
          <p:cNvCxnSpPr/>
          <p:nvPr/>
        </p:nvCxnSpPr>
        <p:spPr>
          <a:xfrm flipV="1">
            <a:off x="6134100" y="46329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nBeltz / rect / 21"/>
          <p:cNvSpPr/>
          <p:nvPr/>
        </p:nvSpPr>
        <p:spPr>
          <a:xfrm>
            <a:off x="627888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nBeltz / text / 22"/>
          <p:cNvSpPr txBox="1"/>
          <p:nvPr/>
        </p:nvSpPr>
        <p:spPr>
          <a:xfrm>
            <a:off x="644652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Sistema IA</a:t>
            </a:r>
          </a:p>
        </p:txBody>
      </p:sp>
      <p:cxnSp>
        <p:nvCxnSpPr>
          <p:cNvPr id="24" name="TenBeltz / line / 23"/>
          <p:cNvCxnSpPr/>
          <p:nvPr/>
        </p:nvCxnSpPr>
        <p:spPr>
          <a:xfrm>
            <a:off x="8823960" y="4632960"/>
            <a:ext cx="2133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enBeltz / line / 24"/>
          <p:cNvCxnSpPr/>
          <p:nvPr/>
        </p:nvCxnSpPr>
        <p:spPr>
          <a:xfrm>
            <a:off x="8976360" y="45948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enBeltz / line / 25"/>
          <p:cNvCxnSpPr/>
          <p:nvPr/>
        </p:nvCxnSpPr>
        <p:spPr>
          <a:xfrm flipV="1">
            <a:off x="8976360" y="46329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nBeltz / rect / 26"/>
          <p:cNvSpPr/>
          <p:nvPr/>
        </p:nvSpPr>
        <p:spPr>
          <a:xfrm>
            <a:off x="912114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nBeltz / text / 27"/>
          <p:cNvSpPr txBox="1"/>
          <p:nvPr/>
        </p:nvSpPr>
        <p:spPr>
          <a:xfrm>
            <a:off x="928878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Evaluación</a:t>
            </a:r>
          </a:p>
        </p:txBody>
      </p:sp>
      <p:sp>
        <p:nvSpPr>
          <p:cNvPr id="29" name="TenBeltz / text / 28"/>
          <p:cNvSpPr txBox="1"/>
          <p:nvPr/>
        </p:nvSpPr>
        <p:spPr>
          <a:xfrm>
            <a:off x="594360" y="5364480"/>
            <a:ext cx="106680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Flujo simplificado / arquitectura conceptual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05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9829800" cy="625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45"/>
              </a:lnSpc>
              <a:spcAft>
                <a:spcPts val="0"/>
              </a:spcAft>
              <a:defRPr sz="3419">
                <a:solidFill>
                  <a:srgbClr val="252826"/>
                </a:solidFill>
                <a:latin typeface="IBM Plex Sans Medm"/>
              </a:defRPr>
            </a:pPr>
            <a:r>
              <a:t>Construir y llevar a producción.</a:t>
            </a:r>
          </a:p>
        </p:txBody>
      </p:sp>
      <p:pic>
        <p:nvPicPr>
          <p:cNvPr id="8" name="TenBeltz / image / 07" descr="tenbeltz-background-routed-lines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407920"/>
            <a:ext cx="4648200" cy="2971800"/>
          </a:xfrm>
          <a:prstGeom prst="rect">
            <a:avLst/>
          </a:prstGeom>
        </p:spPr>
      </p:pic>
      <p:sp>
        <p:nvSpPr>
          <p:cNvPr id="9" name="TenBeltz / text / 08"/>
          <p:cNvSpPr txBox="1"/>
          <p:nvPr/>
        </p:nvSpPr>
        <p:spPr>
          <a:xfrm>
            <a:off x="594360" y="2514600"/>
            <a:ext cx="72390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1554480" y="2514600"/>
            <a:ext cx="49530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Agent MVP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1554480" y="2994660"/>
            <a:ext cx="48768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Construir una primera versión que permita evaluar el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comportamiento del sistema.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594360" y="4076699"/>
            <a:ext cx="72390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1554480" y="4076699"/>
            <a:ext cx="49530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Production Delivery</a:t>
            </a:r>
          </a:p>
        </p:txBody>
      </p:sp>
      <p:sp>
        <p:nvSpPr>
          <p:cNvPr id="14" name="TenBeltz / text / 13"/>
          <p:cNvSpPr txBox="1"/>
          <p:nvPr/>
        </p:nvSpPr>
        <p:spPr>
          <a:xfrm>
            <a:off x="1554480" y="4556760"/>
            <a:ext cx="48768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Integrar, preparar la operación y acordar criterios de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entrega.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33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06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516380"/>
            <a:ext cx="7086600" cy="689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Aft>
                <a:spcPts val="0"/>
              </a:spcAft>
              <a:defRPr sz="4500">
                <a:solidFill>
                  <a:srgbClr val="FFFFFF"/>
                </a:solidFill>
                <a:latin typeface="IBM Plex Sans Medm"/>
              </a:defRPr>
            </a:pPr>
            <a:r>
              <a:t>Formación en IA aplicada.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3429000"/>
            <a:ext cx="6019800" cy="675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D9C4CE"/>
                </a:solidFill>
                <a:latin typeface="IBM Plex Sans"/>
              </a:defRPr>
            </a:pPr>
            <a:r>
              <a:t>Trabajar con el contexto, las herramientas y las</a:t>
            </a:r>
          </a:p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D9C4CE"/>
                </a:solidFill>
                <a:latin typeface="IBM Plex Sans"/>
              </a:defRPr>
            </a:pPr>
            <a:r>
              <a:t>decisiones técnicas de tu equipo.</a:t>
            </a:r>
          </a:p>
        </p:txBody>
      </p:sp>
      <p:pic>
        <p:nvPicPr>
          <p:cNvPr id="9" name="TenBeltz / image / 08" descr="tenbeltz-motif-line-petal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95400"/>
            <a:ext cx="3962399" cy="3962399"/>
          </a:xfrm>
          <a:prstGeom prst="rect">
            <a:avLst/>
          </a:prstGeom>
        </p:spPr>
      </p:pic>
      <p:cxnSp>
        <p:nvCxnSpPr>
          <p:cNvPr id="10" name="TenBeltz / line / 09"/>
          <p:cNvCxnSpPr/>
          <p:nvPr/>
        </p:nvCxnSpPr>
        <p:spPr>
          <a:xfrm>
            <a:off x="594360" y="5044440"/>
            <a:ext cx="6149340" cy="0"/>
          </a:xfrm>
          <a:prstGeom prst="line">
            <a:avLst/>
          </a:prstGeom>
          <a:ln w="7620">
            <a:solidFill>
              <a:srgbClr val="D9C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nBeltz / text / 10"/>
          <p:cNvSpPr txBox="1"/>
          <p:nvPr/>
        </p:nvSpPr>
        <p:spPr>
          <a:xfrm>
            <a:off x="594360" y="5295900"/>
            <a:ext cx="8381999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FFFFFF"/>
                </a:solidFill>
                <a:latin typeface="IBM Plex Sans Medm"/>
              </a:defRPr>
            </a:pPr>
            <a:r>
              <a:t>Aprender / Probar / Aplicar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07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9728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23"/>
              </a:lnSpc>
              <a:spcAft>
                <a:spcPts val="0"/>
              </a:spcAft>
              <a:defRPr sz="3479">
                <a:solidFill>
                  <a:srgbClr val="252826"/>
                </a:solidFill>
                <a:latin typeface="IBM Plex Sans Medm"/>
              </a:defRPr>
            </a:pPr>
            <a:r>
              <a:t>Un método con entregables.</a:t>
            </a:r>
          </a:p>
        </p:txBody>
      </p:sp>
      <p:cxnSp>
        <p:nvCxnSpPr>
          <p:cNvPr id="8" name="TenBeltz / line / 07"/>
          <p:cNvCxnSpPr/>
          <p:nvPr/>
        </p:nvCxnSpPr>
        <p:spPr>
          <a:xfrm>
            <a:off x="1310640" y="3139440"/>
            <a:ext cx="95859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nBeltz / circle / 08"/>
          <p:cNvSpPr/>
          <p:nvPr/>
        </p:nvSpPr>
        <p:spPr>
          <a:xfrm>
            <a:off x="6705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nBeltz / text / 09"/>
          <p:cNvSpPr txBox="1"/>
          <p:nvPr/>
        </p:nvSpPr>
        <p:spPr>
          <a:xfrm>
            <a:off x="5943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5943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Contexto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5943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Problema, usuarios y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restricciones.</a:t>
            </a:r>
          </a:p>
        </p:txBody>
      </p:sp>
      <p:sp>
        <p:nvSpPr>
          <p:cNvPr id="13" name="TenBeltz / circle / 12"/>
          <p:cNvSpPr/>
          <p:nvPr/>
        </p:nvSpPr>
        <p:spPr>
          <a:xfrm>
            <a:off x="35280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nBeltz / text / 13"/>
          <p:cNvSpPr txBox="1"/>
          <p:nvPr/>
        </p:nvSpPr>
        <p:spPr>
          <a:xfrm>
            <a:off x="34518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34518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Definición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34518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Alcance y criterios de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aceptación.</a:t>
            </a:r>
          </a:p>
        </p:txBody>
      </p:sp>
      <p:sp>
        <p:nvSpPr>
          <p:cNvPr id="17" name="TenBeltz / circle / 16"/>
          <p:cNvSpPr/>
          <p:nvPr/>
        </p:nvSpPr>
        <p:spPr>
          <a:xfrm>
            <a:off x="63855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nBeltz / text / 17"/>
          <p:cNvSpPr txBox="1"/>
          <p:nvPr/>
        </p:nvSpPr>
        <p:spPr>
          <a:xfrm>
            <a:off x="63093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03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63093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Construcción</a:t>
            </a:r>
          </a:p>
        </p:txBody>
      </p:sp>
      <p:sp>
        <p:nvSpPr>
          <p:cNvPr id="20" name="TenBeltz / text / 19"/>
          <p:cNvSpPr txBox="1"/>
          <p:nvPr/>
        </p:nvSpPr>
        <p:spPr>
          <a:xfrm>
            <a:off x="63093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Implementación y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evaluación.</a:t>
            </a:r>
          </a:p>
        </p:txBody>
      </p:sp>
      <p:sp>
        <p:nvSpPr>
          <p:cNvPr id="21" name="TenBeltz / circle / 20"/>
          <p:cNvSpPr/>
          <p:nvPr/>
        </p:nvSpPr>
        <p:spPr>
          <a:xfrm>
            <a:off x="92430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nBeltz / text / 21"/>
          <p:cNvSpPr txBox="1"/>
          <p:nvPr/>
        </p:nvSpPr>
        <p:spPr>
          <a:xfrm>
            <a:off x="91668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04</a:t>
            </a:r>
          </a:p>
        </p:txBody>
      </p:sp>
      <p:sp>
        <p:nvSpPr>
          <p:cNvPr id="23" name="TenBeltz / text / 22"/>
          <p:cNvSpPr txBox="1"/>
          <p:nvPr/>
        </p:nvSpPr>
        <p:spPr>
          <a:xfrm>
            <a:off x="91668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Entrega</a:t>
            </a:r>
          </a:p>
        </p:txBody>
      </p:sp>
      <p:sp>
        <p:nvSpPr>
          <p:cNvPr id="24" name="TenBeltz / text / 23"/>
          <p:cNvSpPr txBox="1"/>
          <p:nvPr/>
        </p:nvSpPr>
        <p:spPr>
          <a:xfrm>
            <a:off x="91668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Integración y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documentación.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08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439400" cy="625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45"/>
              </a:lnSpc>
              <a:spcAft>
                <a:spcPts val="0"/>
              </a:spcAft>
              <a:defRPr sz="3419">
                <a:solidFill>
                  <a:srgbClr val="252826"/>
                </a:solidFill>
                <a:latin typeface="IBM Plex Sans Medm"/>
              </a:defRPr>
            </a:pPr>
            <a:r>
              <a:t>Acordar cómo evaluar.</a:t>
            </a:r>
          </a:p>
        </p:txBody>
      </p:sp>
      <p:sp>
        <p:nvSpPr>
          <p:cNvPr id="8" name="TenBeltz / circle / 07"/>
          <p:cNvSpPr/>
          <p:nvPr/>
        </p:nvSpPr>
        <p:spPr>
          <a:xfrm>
            <a:off x="967740" y="2461260"/>
            <a:ext cx="2179320" cy="2179320"/>
          </a:xfrm>
          <a:prstGeom prst="ellipse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nBeltz / text / 08"/>
          <p:cNvSpPr txBox="1"/>
          <p:nvPr/>
        </p:nvSpPr>
        <p:spPr>
          <a:xfrm>
            <a:off x="1051560" y="3307080"/>
            <a:ext cx="22098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Calidad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800100" y="4983480"/>
            <a:ext cx="2781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Muestra y criterios que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representen el uso real.</a:t>
            </a:r>
          </a:p>
        </p:txBody>
      </p:sp>
      <p:sp>
        <p:nvSpPr>
          <p:cNvPr id="11" name="TenBeltz / circle / 10"/>
          <p:cNvSpPr/>
          <p:nvPr/>
        </p:nvSpPr>
        <p:spPr>
          <a:xfrm>
            <a:off x="4716780" y="2461260"/>
            <a:ext cx="2179320" cy="2179320"/>
          </a:xfrm>
          <a:prstGeom prst="ellipse">
            <a:avLst/>
          </a:prstGeom>
          <a:solidFill>
            <a:srgbClr val="D9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nBeltz / text / 11"/>
          <p:cNvSpPr txBox="1"/>
          <p:nvPr/>
        </p:nvSpPr>
        <p:spPr>
          <a:xfrm>
            <a:off x="4800600" y="3307080"/>
            <a:ext cx="22098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Rendimiento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4549140" y="4983480"/>
            <a:ext cx="2781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Latencia y comportamiento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bajo la carga acordada.</a:t>
            </a:r>
          </a:p>
        </p:txBody>
      </p:sp>
      <p:sp>
        <p:nvSpPr>
          <p:cNvPr id="14" name="TenBeltz / circle / 13"/>
          <p:cNvSpPr/>
          <p:nvPr/>
        </p:nvSpPr>
        <p:spPr>
          <a:xfrm>
            <a:off x="8465820" y="2461260"/>
            <a:ext cx="2179320" cy="2179320"/>
          </a:xfrm>
          <a:prstGeom prst="ellipse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nBeltz / text / 14"/>
          <p:cNvSpPr txBox="1"/>
          <p:nvPr/>
        </p:nvSpPr>
        <p:spPr>
          <a:xfrm>
            <a:off x="8549640" y="3307080"/>
            <a:ext cx="22098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Coste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8298179" y="4983480"/>
            <a:ext cx="2781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Coste por uso y límites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operativos explícitos.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09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5918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23"/>
              </a:lnSpc>
              <a:spcAft>
                <a:spcPts val="0"/>
              </a:spcAft>
              <a:defRPr sz="3479">
                <a:solidFill>
                  <a:srgbClr val="252826"/>
                </a:solidFill>
                <a:latin typeface="IBM Plex Sans Medm"/>
              </a:defRPr>
            </a:pPr>
            <a:r>
              <a:t>Responsabilidad técnica clara.</a:t>
            </a:r>
          </a:p>
        </p:txBody>
      </p:sp>
      <p:sp>
        <p:nvSpPr>
          <p:cNvPr id="8" name="TenBeltz / rect / 07"/>
          <p:cNvSpPr/>
          <p:nvPr/>
        </p:nvSpPr>
        <p:spPr>
          <a:xfrm>
            <a:off x="594360" y="2552700"/>
            <a:ext cx="11003280" cy="27432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enBeltz / line / 08"/>
          <p:cNvCxnSpPr/>
          <p:nvPr/>
        </p:nvCxnSpPr>
        <p:spPr>
          <a:xfrm>
            <a:off x="5646420" y="2849880"/>
            <a:ext cx="0" cy="210312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929640" y="2895600"/>
            <a:ext cx="44196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Dirección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929640" y="3337560"/>
            <a:ext cx="4419600" cy="734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Aritz lidera las primeras reuniones,</a:t>
            </a:r>
          </a:p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la consultoría y la definición técnica.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6568440" y="2895600"/>
            <a:ext cx="44196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Equipo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6568440" y="3337560"/>
            <a:ext cx="4419600" cy="10713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El desarrollo y la integración se</a:t>
            </a:r>
          </a:p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delegan al equipo bajo su dirección</a:t>
            </a:r>
          </a:p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técnica.</a:t>
            </a:r>
          </a:p>
        </p:txBody>
      </p:sp>
      <p:sp>
        <p:nvSpPr>
          <p:cNvPr id="14" name="TenBeltz / text / 13"/>
          <p:cNvSpPr txBox="1"/>
          <p:nvPr/>
        </p:nvSpPr>
        <p:spPr>
          <a:xfrm>
            <a:off x="594360" y="5654040"/>
            <a:ext cx="10591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676B65"/>
                </a:solidFill>
                <a:latin typeface="IBM Plex Sans"/>
              </a:defRPr>
            </a:pPr>
            <a:r>
              <a:t>Una dirección técnica / un equipo de implementación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10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744200" cy="675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36"/>
              </a:lnSpc>
              <a:spcAft>
                <a:spcPts val="0"/>
              </a:spcAft>
              <a:defRPr sz="3719">
                <a:solidFill>
                  <a:srgbClr val="252826"/>
                </a:solidFill>
                <a:latin typeface="IBM Plex Sans Medm"/>
              </a:defRPr>
            </a:pPr>
            <a:r>
              <a:t>Evidencia con contexto.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6289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1615440" y="25603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Contexto</a:t>
            </a:r>
          </a:p>
        </p:txBody>
      </p:sp>
      <p:cxnSp>
        <p:nvCxnSpPr>
          <p:cNvPr id="10" name="TenBeltz / line / 09"/>
          <p:cNvCxnSpPr/>
          <p:nvPr/>
        </p:nvCxnSpPr>
        <p:spPr>
          <a:xfrm>
            <a:off x="594360" y="32537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nBeltz / text / 10"/>
          <p:cNvSpPr txBox="1"/>
          <p:nvPr/>
        </p:nvSpPr>
        <p:spPr>
          <a:xfrm>
            <a:off x="594360" y="36195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1615440" y="35509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Contribución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594360" y="42443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594360" y="46101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03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1615440" y="45415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Evidencia</a:t>
            </a:r>
          </a:p>
        </p:txBody>
      </p:sp>
      <p:cxnSp>
        <p:nvCxnSpPr>
          <p:cNvPr id="16" name="TenBeltz / line / 15"/>
          <p:cNvCxnSpPr/>
          <p:nvPr/>
        </p:nvCxnSpPr>
        <p:spPr>
          <a:xfrm>
            <a:off x="594360" y="52349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nBeltz / text / 16"/>
          <p:cNvSpPr txBox="1"/>
          <p:nvPr/>
        </p:nvSpPr>
        <p:spPr>
          <a:xfrm>
            <a:off x="6743700" y="2613660"/>
            <a:ext cx="4762500" cy="288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0"/>
              </a:spcAft>
              <a:defRPr sz="1380">
                <a:solidFill>
                  <a:srgbClr val="583346"/>
                </a:solidFill>
                <a:latin typeface="IBM Plex Sans Medm"/>
              </a:defRPr>
            </a:pPr>
            <a:r>
              <a:t>Proyectos</a:t>
            </a:r>
          </a:p>
        </p:txBody>
      </p:sp>
      <p:sp>
        <p:nvSpPr>
          <p:cNvPr id="18" name="TenBeltz / text / 17"/>
          <p:cNvSpPr txBox="1"/>
          <p:nvPr/>
        </p:nvSpPr>
        <p:spPr>
          <a:xfrm>
            <a:off x="6743700" y="3002280"/>
            <a:ext cx="45720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Distinguir trabajos para clientes,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colaboraciones y productos cofundados.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6743700" y="4183380"/>
            <a:ext cx="4762500" cy="288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0"/>
              </a:spcAft>
              <a:defRPr sz="1380">
                <a:solidFill>
                  <a:srgbClr val="583346"/>
                </a:solidFill>
                <a:latin typeface="IBM Plex Sans Medm"/>
              </a:defRPr>
            </a:pPr>
            <a:r>
              <a:t>Resultados</a:t>
            </a:r>
          </a:p>
        </p:txBody>
      </p:sp>
      <p:sp>
        <p:nvSpPr>
          <p:cNvPr id="20" name="TenBeltz / text / 19"/>
          <p:cNvSpPr txBox="1"/>
          <p:nvPr/>
        </p:nvSpPr>
        <p:spPr>
          <a:xfrm>
            <a:off x="6743700" y="4572000"/>
            <a:ext cx="4572000" cy="922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Explicar muestra, método y alcance de cada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evaluación. Usar capturas y referencias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autorizadas.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11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896600" cy="625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45"/>
              </a:lnSpc>
              <a:spcAft>
                <a:spcPts val="0"/>
              </a:spcAft>
              <a:defRPr sz="3419">
                <a:solidFill>
                  <a:srgbClr val="252826"/>
                </a:solidFill>
                <a:latin typeface="IBM Plex Sans Medm"/>
              </a:defRPr>
            </a:pPr>
            <a:r>
              <a:t>Una primera conversación útil.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567940"/>
            <a:ext cx="32766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Producto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4572000" y="2590800"/>
            <a:ext cx="6705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676B65"/>
                </a:solidFill>
                <a:latin typeface="IBM Plex Sans"/>
              </a:defRPr>
            </a:pPr>
            <a:r>
              <a:t>Qué estás construyendo y para quién.</a:t>
            </a:r>
          </a:p>
        </p:txBody>
      </p:sp>
      <p:cxnSp>
        <p:nvCxnSpPr>
          <p:cNvPr id="10" name="TenBeltz / line / 09"/>
          <p:cNvCxnSpPr/>
          <p:nvPr/>
        </p:nvCxnSpPr>
        <p:spPr>
          <a:xfrm>
            <a:off x="594360" y="330708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nBeltz / text / 10"/>
          <p:cNvSpPr txBox="1"/>
          <p:nvPr/>
        </p:nvSpPr>
        <p:spPr>
          <a:xfrm>
            <a:off x="594360" y="3566160"/>
            <a:ext cx="32766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Oportunidad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4572000" y="3589020"/>
            <a:ext cx="6705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676B65"/>
                </a:solidFill>
                <a:latin typeface="IBM Plex Sans"/>
              </a:defRPr>
            </a:pPr>
            <a:r>
              <a:t>Qué comportamiento esperas del sistema de IA.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594360" y="430530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594360" y="4564380"/>
            <a:ext cx="32766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Restricciones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4572000" y="4587240"/>
            <a:ext cx="6705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676B65"/>
                </a:solidFill>
                <a:latin typeface="IBM Plex Sans"/>
              </a:defRPr>
            </a:pPr>
            <a:r>
              <a:t>Datos, integración, calendario y criterios de calidad.</a:t>
            </a:r>
          </a:p>
        </p:txBody>
      </p:sp>
      <p:cxnSp>
        <p:nvCxnSpPr>
          <p:cNvPr id="16" name="TenBeltz / line / 15"/>
          <p:cNvCxnSpPr/>
          <p:nvPr/>
        </p:nvCxnSpPr>
        <p:spPr>
          <a:xfrm>
            <a:off x="594360" y="530352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12 / 12</a:t>
            </a:r>
          </a:p>
        </p:txBody>
      </p:sp>
      <p:pic>
        <p:nvPicPr>
          <p:cNvPr id="7" name="TenBeltz / image / 06" descr="tenbeltz-motif-line-petal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019300"/>
            <a:ext cx="3238500" cy="3238500"/>
          </a:xfrm>
          <a:prstGeom prst="rect">
            <a:avLst/>
          </a:prstGeom>
        </p:spPr>
      </p:pic>
      <p:sp>
        <p:nvSpPr>
          <p:cNvPr id="8" name="TenBeltz / text / 07"/>
          <p:cNvSpPr txBox="1"/>
          <p:nvPr/>
        </p:nvSpPr>
        <p:spPr>
          <a:xfrm>
            <a:off x="594360" y="1821180"/>
            <a:ext cx="8458200" cy="714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Aft>
                <a:spcPts val="0"/>
              </a:spcAft>
              <a:defRPr sz="4680">
                <a:solidFill>
                  <a:srgbClr val="FFFFFF"/>
                </a:solidFill>
                <a:latin typeface="IBM Plex Sans Medm"/>
              </a:defRPr>
            </a:pPr>
            <a:r>
              <a:t>Hablemos de tu proyecto.</a:t>
            </a:r>
          </a:p>
        </p:txBody>
      </p:sp>
      <p:cxnSp>
        <p:nvCxnSpPr>
          <p:cNvPr id="9" name="TenBeltz / line / 08"/>
          <p:cNvCxnSpPr/>
          <p:nvPr/>
        </p:nvCxnSpPr>
        <p:spPr>
          <a:xfrm>
            <a:off x="594360" y="4061460"/>
            <a:ext cx="649224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594360" y="4465320"/>
            <a:ext cx="7315200" cy="774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8"/>
              </a:lnSpc>
              <a:spcAft>
                <a:spcPts val="0"/>
              </a:spcAft>
              <a:defRPr sz="2160">
                <a:solidFill>
                  <a:srgbClr val="D9C4CE"/>
                </a:solidFill>
                <a:latin typeface="IBM Plex Sans"/>
              </a:defRPr>
            </a:pPr>
            <a:r>
              <a:t>hello@tenbeltz.com</a:t>
            </a:r>
          </a:p>
          <a:p>
            <a:pPr>
              <a:lnSpc>
                <a:spcPts val="2808"/>
              </a:lnSpc>
              <a:spcAft>
                <a:spcPts val="0"/>
              </a:spcAft>
              <a:defRPr sz="216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IBM Plex Sans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IBM Plex Sans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TenBeltz / es</dc:title>
  <dc:subject/>
  <dc:creator>TenBeltz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